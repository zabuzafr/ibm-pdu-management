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A3A8F">
              <a:alpha val="60000"/>
            </a:srgbClr>
          </a:solidFill>
          <a:ln w="12700">
            <a:solidFill>
              <a:srgbClr val="1A3A8F">
                <a:alpha val="60000"/>
              </a:srgbClr>
            </a:solidFill>
            <a:prstDash val="solid"/>
          </a:ln>
        </p:spPr>
      </p:sp>
      <p:sp>
        <p:nvSpPr>
          <p:cNvPr id="3" name="Shape 1"/>
          <p:cNvSpPr/>
          <p:nvPr/>
        </p:nvSpPr>
        <p:spPr>
          <a:xfrm>
            <a:off x="7772400" y="0"/>
            <a:ext cx="1371600" cy="5143500"/>
          </a:xfrm>
          <a:prstGeom prst="rect">
            <a:avLst/>
          </a:prstGeom>
          <a:solidFill>
            <a:srgbClr val="2E5FD9">
              <a:alpha val="45000"/>
            </a:srgbClr>
          </a:solidFill>
          <a:ln w="12700">
            <a:solidFill>
              <a:srgbClr val="2E5FD9">
                <a:alpha val="45000"/>
              </a:srgbClr>
            </a:solidFill>
            <a:prstDash val="solid"/>
          </a:ln>
        </p:spPr>
      </p:sp>
      <p:sp>
        <p:nvSpPr>
          <p:cNvPr id="4" name="Shape 2"/>
          <p:cNvSpPr/>
          <p:nvPr/>
        </p:nvSpPr>
        <p:spPr>
          <a:xfrm>
            <a:off x="0" y="1463040"/>
            <a:ext cx="5943600" cy="64008"/>
          </a:xfrm>
          <a:prstGeom prst="rect">
            <a:avLst/>
          </a:prstGeom>
          <a:solidFill>
            <a:srgbClr val="F5A623"/>
          </a:solidFill>
          <a:ln w="12700">
            <a:solidFill>
              <a:srgbClr val="F5A623"/>
            </a:solidFill>
            <a:prstDash val="solid"/>
          </a:ln>
        </p:spPr>
      </p:sp>
      <p:sp>
        <p:nvSpPr>
          <p:cNvPr id="5" name="Text 3"/>
          <p:cNvSpPr/>
          <p:nvPr/>
        </p:nvSpPr>
        <p:spPr>
          <a:xfrm>
            <a:off x="457200" y="548640"/>
            <a:ext cx="5669280" cy="457200"/>
          </a:xfrm>
          <a:prstGeom prst="rect">
            <a:avLst/>
          </a:prstGeom>
          <a:noFill/>
          <a:ln/>
        </p:spPr>
        <p:txBody>
          <a:bodyPr wrap="square" lIns="0" tIns="0" rIns="0" bIns="0" rtlCol="0" anchor="ctr"/>
          <a:lstStyle/>
          <a:p>
            <a:pPr indent="0" marL="0">
              <a:buNone/>
            </a:pPr>
            <a:r>
              <a:rPr lang="en-US" sz="1300" b="1" spc="400" kern="0" dirty="0">
                <a:solidFill>
                  <a:srgbClr val="F5A623"/>
                </a:solidFill>
                <a:latin typeface="Calibri" pitchFamily="34" charset="0"/>
                <a:ea typeface="Calibri" pitchFamily="34" charset="-122"/>
                <a:cs typeface="Calibri" pitchFamily="34" charset="-120"/>
              </a:rPr>
              <a:t>ÉTUDE COMPARATIVE</a:t>
            </a:r>
            <a:endParaRPr lang="en-US" sz="1300" dirty="0"/>
          </a:p>
        </p:txBody>
      </p:sp>
      <p:sp>
        <p:nvSpPr>
          <p:cNvPr id="6" name="Text 4"/>
          <p:cNvSpPr/>
          <p:nvPr/>
        </p:nvSpPr>
        <p:spPr>
          <a:xfrm>
            <a:off x="457200" y="1005840"/>
            <a:ext cx="5669280" cy="13716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Solutions de Sauvegarde</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Kubernetes / Red Hat OpenShift</a:t>
            </a:r>
            <a:endParaRPr lang="en-US" sz="2800" dirty="0"/>
          </a:p>
        </p:txBody>
      </p:sp>
      <p:sp>
        <p:nvSpPr>
          <p:cNvPr id="7" name="Text 5"/>
          <p:cNvSpPr/>
          <p:nvPr/>
        </p:nvSpPr>
        <p:spPr>
          <a:xfrm>
            <a:off x="457200" y="2468880"/>
            <a:ext cx="5669280" cy="411480"/>
          </a:xfrm>
          <a:prstGeom prst="rect">
            <a:avLst/>
          </a:prstGeom>
          <a:noFill/>
          <a:ln/>
        </p:spPr>
        <p:txBody>
          <a:bodyPr wrap="square" lIns="0" tIns="0" rIns="0" bIns="0" rtlCol="0" anchor="ctr"/>
          <a:lstStyle/>
          <a:p>
            <a:pPr indent="0" marL="0">
              <a:buNone/>
            </a:pPr>
            <a:r>
              <a:rPr lang="en-US" sz="1300" dirty="0">
                <a:solidFill>
                  <a:srgbClr val="D6E4FF"/>
                </a:solidFill>
                <a:latin typeface="Calibri" pitchFamily="34" charset="0"/>
                <a:ea typeface="Calibri" pitchFamily="34" charset="-122"/>
                <a:cs typeface="Calibri" pitchFamily="34" charset="-120"/>
              </a:rPr>
              <a:t>Veritas NetBackup  ·  Commvault  ·  Portworx PX-Backup</a:t>
            </a:r>
            <a:endParaRPr lang="en-US" sz="1300" dirty="0"/>
          </a:p>
        </p:txBody>
      </p:sp>
      <p:sp>
        <p:nvSpPr>
          <p:cNvPr id="8" name="Text 6"/>
          <p:cNvSpPr/>
          <p:nvPr/>
        </p:nvSpPr>
        <p:spPr>
          <a:xfrm>
            <a:off x="457200" y="2880360"/>
            <a:ext cx="5669280" cy="320040"/>
          </a:xfrm>
          <a:prstGeom prst="rect">
            <a:avLst/>
          </a:prstGeom>
          <a:noFill/>
          <a:ln/>
        </p:spPr>
        <p:txBody>
          <a:bodyPr wrap="square" lIns="0" tIns="0" rIns="0" bIns="0" rtlCol="0" anchor="ctr"/>
          <a:lstStyle/>
          <a:p>
            <a:pPr indent="0" marL="0">
              <a:buNone/>
            </a:pPr>
            <a:r>
              <a:rPr lang="en-US" sz="1100" dirty="0">
                <a:solidFill>
                  <a:srgbClr val="D6E4FF"/>
                </a:solidFill>
                <a:latin typeface="Calibri" pitchFamily="34" charset="0"/>
                <a:ea typeface="Calibri" pitchFamily="34" charset="-122"/>
                <a:cs typeface="Calibri" pitchFamily="34" charset="-120"/>
              </a:rPr>
              <a:t>Stockage : LTO (10 ans)  ·  Dell EMC Data Domain (1 mois – 1 an)</a:t>
            </a:r>
            <a:endParaRPr lang="en-US" sz="1100" dirty="0"/>
          </a:p>
        </p:txBody>
      </p:sp>
      <p:sp>
        <p:nvSpPr>
          <p:cNvPr id="9" name="Shape 7"/>
          <p:cNvSpPr/>
          <p:nvPr/>
        </p:nvSpPr>
        <p:spPr>
          <a:xfrm>
            <a:off x="457200" y="3383280"/>
            <a:ext cx="3840480" cy="54864"/>
          </a:xfrm>
          <a:prstGeom prst="rect">
            <a:avLst/>
          </a:prstGeom>
          <a:solidFill>
            <a:srgbClr val="F5A623">
              <a:alpha val="60000"/>
            </a:srgbClr>
          </a:solidFill>
          <a:ln w="12700">
            <a:solidFill>
              <a:srgbClr val="F5A623">
                <a:alpha val="60000"/>
              </a:srgbClr>
            </a:solidFill>
            <a:prstDash val="solid"/>
          </a:ln>
        </p:spPr>
      </p:sp>
      <p:sp>
        <p:nvSpPr>
          <p:cNvPr id="10" name="Text 8"/>
          <p:cNvSpPr/>
          <p:nvPr/>
        </p:nvSpPr>
        <p:spPr>
          <a:xfrm>
            <a:off x="457200" y="3474720"/>
            <a:ext cx="5303520" cy="320040"/>
          </a:xfrm>
          <a:prstGeom prst="rect">
            <a:avLst/>
          </a:prstGeom>
          <a:noFill/>
          <a:ln/>
        </p:spPr>
        <p:txBody>
          <a:bodyPr wrap="square" lIns="0" tIns="0" rIns="0" bIns="0" rtlCol="0" anchor="ctr"/>
          <a:lstStyle/>
          <a:p>
            <a:pPr indent="0" marL="0">
              <a:buNone/>
            </a:pPr>
            <a:r>
              <a:rPr lang="en-US" sz="1050" i="1" dirty="0">
                <a:solidFill>
                  <a:srgbClr val="A0B4D8"/>
                </a:solidFill>
                <a:latin typeface="Calibri" pitchFamily="34" charset="0"/>
                <a:ea typeface="Calibri" pitchFamily="34" charset="-122"/>
                <a:cs typeface="Calibri" pitchFamily="34" charset="-120"/>
              </a:rPr>
              <a:t>Conformité DORA – RGPD – Exigences Secteur Financier</a:t>
            </a:r>
            <a:endParaRPr lang="en-US" sz="1050" dirty="0"/>
          </a:p>
        </p:txBody>
      </p:sp>
      <p:sp>
        <p:nvSpPr>
          <p:cNvPr id="11" name="Text 9"/>
          <p:cNvSpPr/>
          <p:nvPr/>
        </p:nvSpPr>
        <p:spPr>
          <a:xfrm>
            <a:off x="457200" y="4572000"/>
            <a:ext cx="5486400" cy="320040"/>
          </a:xfrm>
          <a:prstGeom prst="rect">
            <a:avLst/>
          </a:prstGeom>
          <a:noFill/>
          <a:ln/>
        </p:spPr>
        <p:txBody>
          <a:bodyPr wrap="square" lIns="0" tIns="0" rIns="0" bIns="0" rtlCol="0" anchor="ctr"/>
          <a:lstStyle/>
          <a:p>
            <a:pPr indent="0" marL="0">
              <a:buNone/>
            </a:pPr>
            <a:r>
              <a:rPr lang="en-US" sz="900" dirty="0">
                <a:solidFill>
                  <a:srgbClr val="6080A8"/>
                </a:solidFill>
                <a:latin typeface="Calibri" pitchFamily="34" charset="0"/>
                <a:ea typeface="Calibri" pitchFamily="34" charset="-122"/>
                <a:cs typeface="Calibri" pitchFamily="34" charset="-120"/>
              </a:rPr>
              <a:t>Mars 2025  |  Usage Interne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Sommaire</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Structure de l'étude comparative</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2</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320040" y="96012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960120"/>
            <a:ext cx="502920" cy="804672"/>
          </a:xfrm>
          <a:prstGeom prst="rect">
            <a:avLst/>
          </a:prstGeom>
          <a:solidFill>
            <a:srgbClr val="0D1B4B"/>
          </a:solidFill>
          <a:ln w="12700">
            <a:solidFill>
              <a:srgbClr val="0D1B4B"/>
            </a:solidFill>
            <a:prstDash val="solid"/>
          </a:ln>
        </p:spPr>
      </p:sp>
      <p:sp>
        <p:nvSpPr>
          <p:cNvPr id="11" name="Text 9"/>
          <p:cNvSpPr/>
          <p:nvPr/>
        </p:nvSpPr>
        <p:spPr>
          <a:xfrm>
            <a:off x="320040" y="96012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01</a:t>
            </a:r>
            <a:endParaRPr lang="en-US" sz="1400" dirty="0"/>
          </a:p>
        </p:txBody>
      </p:sp>
      <p:sp>
        <p:nvSpPr>
          <p:cNvPr id="12" name="Text 10"/>
          <p:cNvSpPr/>
          <p:nvPr/>
        </p:nvSpPr>
        <p:spPr>
          <a:xfrm>
            <a:off x="914400" y="102412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Cadre réglementaire</a:t>
            </a:r>
            <a:endParaRPr lang="en-US" sz="1100" dirty="0"/>
          </a:p>
        </p:txBody>
      </p:sp>
      <p:sp>
        <p:nvSpPr>
          <p:cNvPr id="13" name="Text 11"/>
          <p:cNvSpPr/>
          <p:nvPr/>
        </p:nvSpPr>
        <p:spPr>
          <a:xfrm>
            <a:off x="914400" y="130759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Exigences DORA, RPO/RTO, politiques de sauvegarde</a:t>
            </a:r>
            <a:endParaRPr lang="en-US" sz="900" dirty="0"/>
          </a:p>
        </p:txBody>
      </p:sp>
      <p:sp>
        <p:nvSpPr>
          <p:cNvPr id="14" name="Shape 12"/>
          <p:cNvSpPr/>
          <p:nvPr/>
        </p:nvSpPr>
        <p:spPr>
          <a:xfrm>
            <a:off x="4754880" y="96012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754880" y="960120"/>
            <a:ext cx="502920" cy="804672"/>
          </a:xfrm>
          <a:prstGeom prst="rect">
            <a:avLst/>
          </a:prstGeom>
          <a:solidFill>
            <a:srgbClr val="0D1B4B"/>
          </a:solidFill>
          <a:ln w="12700">
            <a:solidFill>
              <a:srgbClr val="0D1B4B"/>
            </a:solidFill>
            <a:prstDash val="solid"/>
          </a:ln>
        </p:spPr>
      </p:sp>
      <p:sp>
        <p:nvSpPr>
          <p:cNvPr id="16" name="Text 14"/>
          <p:cNvSpPr/>
          <p:nvPr/>
        </p:nvSpPr>
        <p:spPr>
          <a:xfrm>
            <a:off x="4754880" y="96012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02</a:t>
            </a:r>
            <a:endParaRPr lang="en-US" sz="1400" dirty="0"/>
          </a:p>
        </p:txBody>
      </p:sp>
      <p:sp>
        <p:nvSpPr>
          <p:cNvPr id="17" name="Text 15"/>
          <p:cNvSpPr/>
          <p:nvPr/>
        </p:nvSpPr>
        <p:spPr>
          <a:xfrm>
            <a:off x="5349240" y="102412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Architecture cible</a:t>
            </a:r>
            <a:endParaRPr lang="en-US" sz="1100" dirty="0"/>
          </a:p>
        </p:txBody>
      </p:sp>
      <p:sp>
        <p:nvSpPr>
          <p:cNvPr id="18" name="Text 16"/>
          <p:cNvSpPr/>
          <p:nvPr/>
        </p:nvSpPr>
        <p:spPr>
          <a:xfrm>
            <a:off x="5349240" y="130759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LTO pour 10 ans · Data Domain 1 mois–1 an · Topologie</a:t>
            </a:r>
            <a:endParaRPr lang="en-US" sz="900" dirty="0"/>
          </a:p>
        </p:txBody>
      </p:sp>
      <p:sp>
        <p:nvSpPr>
          <p:cNvPr id="19" name="Shape 17"/>
          <p:cNvSpPr/>
          <p:nvPr/>
        </p:nvSpPr>
        <p:spPr>
          <a:xfrm>
            <a:off x="320040" y="192024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20040" y="1920240"/>
            <a:ext cx="502920" cy="804672"/>
          </a:xfrm>
          <a:prstGeom prst="rect">
            <a:avLst/>
          </a:prstGeom>
          <a:solidFill>
            <a:srgbClr val="0D1B4B"/>
          </a:solidFill>
          <a:ln w="12700">
            <a:solidFill>
              <a:srgbClr val="0D1B4B"/>
            </a:solidFill>
            <a:prstDash val="solid"/>
          </a:ln>
        </p:spPr>
      </p:sp>
      <p:sp>
        <p:nvSpPr>
          <p:cNvPr id="21" name="Text 19"/>
          <p:cNvSpPr/>
          <p:nvPr/>
        </p:nvSpPr>
        <p:spPr>
          <a:xfrm>
            <a:off x="320040" y="192024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03</a:t>
            </a:r>
            <a:endParaRPr lang="en-US" sz="1400" dirty="0"/>
          </a:p>
        </p:txBody>
      </p:sp>
      <p:sp>
        <p:nvSpPr>
          <p:cNvPr id="22" name="Text 20"/>
          <p:cNvSpPr/>
          <p:nvPr/>
        </p:nvSpPr>
        <p:spPr>
          <a:xfrm>
            <a:off x="914400" y="198424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Veritas NetBackup for Kubernetes</a:t>
            </a:r>
            <a:endParaRPr lang="en-US" sz="1100" dirty="0"/>
          </a:p>
        </p:txBody>
      </p:sp>
      <p:sp>
        <p:nvSpPr>
          <p:cNvPr id="23" name="Text 21"/>
          <p:cNvSpPr/>
          <p:nvPr/>
        </p:nvSpPr>
        <p:spPr>
          <a:xfrm>
            <a:off x="914400" y="226771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Fonctionnalités, intégrations, points forts &amp; faibles</a:t>
            </a:r>
            <a:endParaRPr lang="en-US" sz="900" dirty="0"/>
          </a:p>
        </p:txBody>
      </p:sp>
      <p:sp>
        <p:nvSpPr>
          <p:cNvPr id="24" name="Shape 22"/>
          <p:cNvSpPr/>
          <p:nvPr/>
        </p:nvSpPr>
        <p:spPr>
          <a:xfrm>
            <a:off x="4754880" y="192024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754880" y="1920240"/>
            <a:ext cx="502920" cy="804672"/>
          </a:xfrm>
          <a:prstGeom prst="rect">
            <a:avLst/>
          </a:prstGeom>
          <a:solidFill>
            <a:srgbClr val="0D1B4B"/>
          </a:solidFill>
          <a:ln w="12700">
            <a:solidFill>
              <a:srgbClr val="0D1B4B"/>
            </a:solidFill>
            <a:prstDash val="solid"/>
          </a:ln>
        </p:spPr>
      </p:sp>
      <p:sp>
        <p:nvSpPr>
          <p:cNvPr id="26" name="Text 24"/>
          <p:cNvSpPr/>
          <p:nvPr/>
        </p:nvSpPr>
        <p:spPr>
          <a:xfrm>
            <a:off x="4754880" y="192024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5349240" y="198424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Commvault Complete for Kubernetes</a:t>
            </a:r>
            <a:endParaRPr lang="en-US" sz="1100" dirty="0"/>
          </a:p>
        </p:txBody>
      </p:sp>
      <p:sp>
        <p:nvSpPr>
          <p:cNvPr id="28" name="Text 26"/>
          <p:cNvSpPr/>
          <p:nvPr/>
        </p:nvSpPr>
        <p:spPr>
          <a:xfrm>
            <a:off x="5349240" y="226771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Fonctionnalités, intégrations, points forts &amp; faibles</a:t>
            </a:r>
            <a:endParaRPr lang="en-US" sz="900" dirty="0"/>
          </a:p>
        </p:txBody>
      </p:sp>
      <p:sp>
        <p:nvSpPr>
          <p:cNvPr id="29" name="Shape 27"/>
          <p:cNvSpPr/>
          <p:nvPr/>
        </p:nvSpPr>
        <p:spPr>
          <a:xfrm>
            <a:off x="320040" y="288036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320040" y="2880360"/>
            <a:ext cx="502920" cy="804672"/>
          </a:xfrm>
          <a:prstGeom prst="rect">
            <a:avLst/>
          </a:prstGeom>
          <a:solidFill>
            <a:srgbClr val="0D1B4B"/>
          </a:solidFill>
          <a:ln w="12700">
            <a:solidFill>
              <a:srgbClr val="0D1B4B"/>
            </a:solidFill>
            <a:prstDash val="solid"/>
          </a:ln>
        </p:spPr>
      </p:sp>
      <p:sp>
        <p:nvSpPr>
          <p:cNvPr id="31" name="Text 29"/>
          <p:cNvSpPr/>
          <p:nvPr/>
        </p:nvSpPr>
        <p:spPr>
          <a:xfrm>
            <a:off x="320040" y="288036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05</a:t>
            </a:r>
            <a:endParaRPr lang="en-US" sz="1400" dirty="0"/>
          </a:p>
        </p:txBody>
      </p:sp>
      <p:sp>
        <p:nvSpPr>
          <p:cNvPr id="32" name="Text 30"/>
          <p:cNvSpPr/>
          <p:nvPr/>
        </p:nvSpPr>
        <p:spPr>
          <a:xfrm>
            <a:off x="914400" y="294436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Portworx PX-Backup</a:t>
            </a:r>
            <a:endParaRPr lang="en-US" sz="1100" dirty="0"/>
          </a:p>
        </p:txBody>
      </p:sp>
      <p:sp>
        <p:nvSpPr>
          <p:cNvPr id="33" name="Text 31"/>
          <p:cNvSpPr/>
          <p:nvPr/>
        </p:nvSpPr>
        <p:spPr>
          <a:xfrm>
            <a:off x="914400" y="322783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Fonctionnalités, intégrations, points forts &amp; faibles</a:t>
            </a:r>
            <a:endParaRPr lang="en-US" sz="900" dirty="0"/>
          </a:p>
        </p:txBody>
      </p:sp>
      <p:sp>
        <p:nvSpPr>
          <p:cNvPr id="34" name="Shape 32"/>
          <p:cNvSpPr/>
          <p:nvPr/>
        </p:nvSpPr>
        <p:spPr>
          <a:xfrm>
            <a:off x="4754880" y="288036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754880" y="2880360"/>
            <a:ext cx="502920" cy="804672"/>
          </a:xfrm>
          <a:prstGeom prst="rect">
            <a:avLst/>
          </a:prstGeom>
          <a:solidFill>
            <a:srgbClr val="0D1B4B"/>
          </a:solidFill>
          <a:ln w="12700">
            <a:solidFill>
              <a:srgbClr val="0D1B4B"/>
            </a:solidFill>
            <a:prstDash val="solid"/>
          </a:ln>
        </p:spPr>
      </p:sp>
      <p:sp>
        <p:nvSpPr>
          <p:cNvPr id="36" name="Text 34"/>
          <p:cNvSpPr/>
          <p:nvPr/>
        </p:nvSpPr>
        <p:spPr>
          <a:xfrm>
            <a:off x="4754880" y="288036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06</a:t>
            </a:r>
            <a:endParaRPr lang="en-US" sz="1400" dirty="0"/>
          </a:p>
        </p:txBody>
      </p:sp>
      <p:sp>
        <p:nvSpPr>
          <p:cNvPr id="37" name="Text 35"/>
          <p:cNvSpPr/>
          <p:nvPr/>
        </p:nvSpPr>
        <p:spPr>
          <a:xfrm>
            <a:off x="5349240" y="294436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Analyse comparative</a:t>
            </a:r>
            <a:endParaRPr lang="en-US" sz="1100" dirty="0"/>
          </a:p>
        </p:txBody>
      </p:sp>
      <p:sp>
        <p:nvSpPr>
          <p:cNvPr id="38" name="Text 36"/>
          <p:cNvSpPr/>
          <p:nvPr/>
        </p:nvSpPr>
        <p:spPr>
          <a:xfrm>
            <a:off x="5349240" y="322783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Matrice de fonctionnalités · Scoring · Intégration stockage</a:t>
            </a:r>
            <a:endParaRPr lang="en-US" sz="900" dirty="0"/>
          </a:p>
        </p:txBody>
      </p:sp>
      <p:sp>
        <p:nvSpPr>
          <p:cNvPr id="39" name="Shape 37"/>
          <p:cNvSpPr/>
          <p:nvPr/>
        </p:nvSpPr>
        <p:spPr>
          <a:xfrm>
            <a:off x="320040" y="384048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320040" y="3840480"/>
            <a:ext cx="502920" cy="804672"/>
          </a:xfrm>
          <a:prstGeom prst="rect">
            <a:avLst/>
          </a:prstGeom>
          <a:solidFill>
            <a:srgbClr val="0D1B4B"/>
          </a:solidFill>
          <a:ln w="12700">
            <a:solidFill>
              <a:srgbClr val="0D1B4B"/>
            </a:solidFill>
            <a:prstDash val="solid"/>
          </a:ln>
        </p:spPr>
      </p:sp>
      <p:sp>
        <p:nvSpPr>
          <p:cNvPr id="41" name="Text 39"/>
          <p:cNvSpPr/>
          <p:nvPr/>
        </p:nvSpPr>
        <p:spPr>
          <a:xfrm>
            <a:off x="320040" y="384048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07</a:t>
            </a:r>
            <a:endParaRPr lang="en-US" sz="1400" dirty="0"/>
          </a:p>
        </p:txBody>
      </p:sp>
      <p:sp>
        <p:nvSpPr>
          <p:cNvPr id="42" name="Text 40"/>
          <p:cNvSpPr/>
          <p:nvPr/>
        </p:nvSpPr>
        <p:spPr>
          <a:xfrm>
            <a:off x="914400" y="390448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Conformité DORA</a:t>
            </a:r>
            <a:endParaRPr lang="en-US" sz="1100" dirty="0"/>
          </a:p>
        </p:txBody>
      </p:sp>
      <p:sp>
        <p:nvSpPr>
          <p:cNvPr id="43" name="Text 41"/>
          <p:cNvSpPr/>
          <p:nvPr/>
        </p:nvSpPr>
        <p:spPr>
          <a:xfrm>
            <a:off x="914400" y="418795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Mapping exigences / solutions</a:t>
            </a:r>
            <a:endParaRPr lang="en-US" sz="900" dirty="0"/>
          </a:p>
        </p:txBody>
      </p:sp>
      <p:sp>
        <p:nvSpPr>
          <p:cNvPr id="44" name="Shape 42"/>
          <p:cNvSpPr/>
          <p:nvPr/>
        </p:nvSpPr>
        <p:spPr>
          <a:xfrm>
            <a:off x="4754880" y="3840480"/>
            <a:ext cx="420624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45" name="Shape 43"/>
          <p:cNvSpPr/>
          <p:nvPr/>
        </p:nvSpPr>
        <p:spPr>
          <a:xfrm>
            <a:off x="4754880" y="3840480"/>
            <a:ext cx="502920" cy="804672"/>
          </a:xfrm>
          <a:prstGeom prst="rect">
            <a:avLst/>
          </a:prstGeom>
          <a:solidFill>
            <a:srgbClr val="0D1B4B"/>
          </a:solidFill>
          <a:ln w="12700">
            <a:solidFill>
              <a:srgbClr val="0D1B4B"/>
            </a:solidFill>
            <a:prstDash val="solid"/>
          </a:ln>
        </p:spPr>
      </p:sp>
      <p:sp>
        <p:nvSpPr>
          <p:cNvPr id="46" name="Text 44"/>
          <p:cNvSpPr/>
          <p:nvPr/>
        </p:nvSpPr>
        <p:spPr>
          <a:xfrm>
            <a:off x="4754880" y="3840480"/>
            <a:ext cx="502920" cy="804672"/>
          </a:xfrm>
          <a:prstGeom prst="rect">
            <a:avLst/>
          </a:prstGeom>
          <a:noFill/>
          <a:ln/>
        </p:spPr>
        <p:txBody>
          <a:bodyPr wrap="square" lIns="0" tIns="0" rIns="0" bIns="0" rtlCol="0" anchor="ctr"/>
          <a:lstStyle/>
          <a:p>
            <a:pPr algn="ctr" indent="0" marL="0">
              <a:buNone/>
            </a:pPr>
            <a:r>
              <a:rPr lang="en-US" sz="1400" b="1" dirty="0">
                <a:solidFill>
                  <a:srgbClr val="F5A623"/>
                </a:solidFill>
                <a:latin typeface="Calibri" pitchFamily="34" charset="0"/>
                <a:ea typeface="Calibri" pitchFamily="34" charset="-122"/>
                <a:cs typeface="Calibri" pitchFamily="34" charset="-120"/>
              </a:rPr>
              <a:t>08</a:t>
            </a:r>
            <a:endParaRPr lang="en-US" sz="1400" dirty="0"/>
          </a:p>
        </p:txBody>
      </p:sp>
      <p:sp>
        <p:nvSpPr>
          <p:cNvPr id="47" name="Text 45"/>
          <p:cNvSpPr/>
          <p:nvPr/>
        </p:nvSpPr>
        <p:spPr>
          <a:xfrm>
            <a:off x="5349240" y="3904488"/>
            <a:ext cx="3520440" cy="274320"/>
          </a:xfrm>
          <a:prstGeom prst="rect">
            <a:avLst/>
          </a:prstGeom>
          <a:noFill/>
          <a:ln/>
        </p:spPr>
        <p:txBody>
          <a:bodyPr wrap="square" lIns="0" tIns="0" rIns="0" bIns="0" rtlCol="0" anchor="ctr"/>
          <a:lstStyle/>
          <a:p>
            <a:pPr indent="0" marL="0">
              <a:buNone/>
            </a:pPr>
            <a:r>
              <a:rPr lang="en-US" sz="1100" b="1" dirty="0">
                <a:solidFill>
                  <a:srgbClr val="1A2040"/>
                </a:solidFill>
                <a:latin typeface="Calibri" pitchFamily="34" charset="0"/>
                <a:ea typeface="Calibri" pitchFamily="34" charset="-122"/>
                <a:cs typeface="Calibri" pitchFamily="34" charset="-120"/>
              </a:rPr>
              <a:t>Recommandation &amp; Conclusion</a:t>
            </a:r>
            <a:endParaRPr lang="en-US" sz="1100" dirty="0"/>
          </a:p>
        </p:txBody>
      </p:sp>
      <p:sp>
        <p:nvSpPr>
          <p:cNvPr id="48" name="Text 46"/>
          <p:cNvSpPr/>
          <p:nvPr/>
        </p:nvSpPr>
        <p:spPr>
          <a:xfrm>
            <a:off x="5349240" y="4187952"/>
            <a:ext cx="3520440" cy="384048"/>
          </a:xfrm>
          <a:prstGeom prst="rect">
            <a:avLst/>
          </a:prstGeom>
          <a:noFill/>
          <a:ln/>
        </p:spPr>
        <p:txBody>
          <a:bodyPr wrap="square" lIns="0" tIns="0" rIns="0" bIns="0" rtlCol="0" anchor="ctr"/>
          <a:lstStyle/>
          <a:p>
            <a:pPr indent="0" marL="0">
              <a:buNone/>
            </a:pPr>
            <a:r>
              <a:rPr lang="en-US" sz="900" dirty="0">
                <a:solidFill>
                  <a:srgbClr val="5C6680"/>
                </a:solidFill>
                <a:latin typeface="Calibri" pitchFamily="34" charset="0"/>
                <a:ea typeface="Calibri" pitchFamily="34" charset="-122"/>
                <a:cs typeface="Calibri" pitchFamily="34" charset="-120"/>
              </a:rPr>
              <a:t>Synthèse, critères de choix, plan d'action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Cadre réglementaire DORA</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Digital Operational Resilience Act – Règlement UE 2022/2554 – en vigueur depuis janvier 2025</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3</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Text 7"/>
          <p:cNvSpPr/>
          <p:nvPr/>
        </p:nvSpPr>
        <p:spPr>
          <a:xfrm>
            <a:off x="320040" y="960120"/>
            <a:ext cx="8503920" cy="320040"/>
          </a:xfrm>
          <a:prstGeom prst="rect">
            <a:avLst/>
          </a:prstGeom>
          <a:noFill/>
          <a:ln/>
        </p:spPr>
        <p:txBody>
          <a:bodyPr wrap="square" lIns="0" tIns="0" rIns="0" bIns="0" rtlCol="0" anchor="ctr"/>
          <a:lstStyle/>
          <a:p>
            <a:pPr indent="0" marL="0">
              <a:buNone/>
            </a:pPr>
            <a:r>
              <a:rPr lang="en-US" sz="1300" b="1" dirty="0">
                <a:solidFill>
                  <a:srgbClr val="1A2040"/>
                </a:solidFill>
                <a:latin typeface="Calibri" pitchFamily="34" charset="0"/>
                <a:ea typeface="Calibri" pitchFamily="34" charset="-122"/>
                <a:cs typeface="Calibri" pitchFamily="34" charset="-120"/>
              </a:rPr>
              <a:t>Exigences DORA impactant la stratégie de sauvegarde</a:t>
            </a:r>
            <a:endParaRPr lang="en-US" sz="1300" dirty="0"/>
          </a:p>
        </p:txBody>
      </p:sp>
      <p:sp>
        <p:nvSpPr>
          <p:cNvPr id="10" name="Shape 8"/>
          <p:cNvSpPr/>
          <p:nvPr/>
        </p:nvSpPr>
        <p:spPr>
          <a:xfrm>
            <a:off x="320040" y="1371600"/>
            <a:ext cx="4206240" cy="16002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0040" y="1371600"/>
            <a:ext cx="4206240" cy="347472"/>
          </a:xfrm>
          <a:prstGeom prst="rect">
            <a:avLst/>
          </a:prstGeom>
          <a:solidFill>
            <a:srgbClr val="0D1B4B"/>
          </a:solidFill>
          <a:ln w="12700">
            <a:solidFill>
              <a:srgbClr val="0D1B4B"/>
            </a:solidFill>
            <a:prstDash val="solid"/>
          </a:ln>
        </p:spPr>
      </p:sp>
      <p:sp>
        <p:nvSpPr>
          <p:cNvPr id="12" name="Text 10"/>
          <p:cNvSpPr/>
          <p:nvPr/>
        </p:nvSpPr>
        <p:spPr>
          <a:xfrm>
            <a:off x="411480" y="1408176"/>
            <a:ext cx="4023360" cy="274320"/>
          </a:xfrm>
          <a:prstGeom prst="rect">
            <a:avLst/>
          </a:prstGeom>
          <a:noFill/>
          <a:ln/>
        </p:spPr>
        <p:txBody>
          <a:bodyPr wrap="square" lIns="0" tIns="0" rIns="0" bIns="0" rtlCol="0" anchor="ctr"/>
          <a:lstStyle/>
          <a:p>
            <a:pPr indent="0" marL="0">
              <a:buNone/>
            </a:pPr>
            <a:r>
              <a:rPr lang="en-US" sz="1050" b="1" dirty="0">
                <a:solidFill>
                  <a:srgbClr val="F5A623"/>
                </a:solidFill>
                <a:latin typeface="Calibri" pitchFamily="34" charset="0"/>
                <a:ea typeface="Calibri" pitchFamily="34" charset="-122"/>
                <a:cs typeface="Calibri" pitchFamily="34" charset="-120"/>
              </a:rPr>
              <a:t>Art. 9 &amp; 12 – Protection &amp; Continuité</a:t>
            </a:r>
            <a:endParaRPr lang="en-US" sz="1050" dirty="0"/>
          </a:p>
        </p:txBody>
      </p:sp>
      <p:sp>
        <p:nvSpPr>
          <p:cNvPr id="13" name="Text 11"/>
          <p:cNvSpPr/>
          <p:nvPr/>
        </p:nvSpPr>
        <p:spPr>
          <a:xfrm>
            <a:off x="457200" y="1773936"/>
            <a:ext cx="3977640" cy="1143000"/>
          </a:xfrm>
          <a:prstGeom prst="rect">
            <a:avLst/>
          </a:prstGeom>
          <a:noFill/>
          <a:ln/>
        </p:spPr>
        <p:txBody>
          <a:bodyPr wrap="square" lIns="0" tIns="0" rIns="0" bIns="0" rtlCol="0" anchor="ctr"/>
          <a:lstStyle/>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Politique documentée de sauvegarde (RPO/RTO formalisés)</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Tests périodiques obligatoires des procédures de restauration</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Sauvegarde des données critiques avec chiffrement en transit et au repos</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Ségrégation des sauvegardes (isolées du réseau de production)</a:t>
            </a:r>
            <a:endParaRPr lang="en-US" sz="900" dirty="0"/>
          </a:p>
        </p:txBody>
      </p:sp>
      <p:sp>
        <p:nvSpPr>
          <p:cNvPr id="14" name="Shape 12"/>
          <p:cNvSpPr/>
          <p:nvPr/>
        </p:nvSpPr>
        <p:spPr>
          <a:xfrm>
            <a:off x="4754880" y="1371600"/>
            <a:ext cx="4206240" cy="16002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754880" y="1371600"/>
            <a:ext cx="4206240" cy="347472"/>
          </a:xfrm>
          <a:prstGeom prst="rect">
            <a:avLst/>
          </a:prstGeom>
          <a:solidFill>
            <a:srgbClr val="0D1B4B"/>
          </a:solidFill>
          <a:ln w="12700">
            <a:solidFill>
              <a:srgbClr val="0D1B4B"/>
            </a:solidFill>
            <a:prstDash val="solid"/>
          </a:ln>
        </p:spPr>
      </p:sp>
      <p:sp>
        <p:nvSpPr>
          <p:cNvPr id="16" name="Text 14"/>
          <p:cNvSpPr/>
          <p:nvPr/>
        </p:nvSpPr>
        <p:spPr>
          <a:xfrm>
            <a:off x="4846320" y="1408176"/>
            <a:ext cx="4023360" cy="274320"/>
          </a:xfrm>
          <a:prstGeom prst="rect">
            <a:avLst/>
          </a:prstGeom>
          <a:noFill/>
          <a:ln/>
        </p:spPr>
        <p:txBody>
          <a:bodyPr wrap="square" lIns="0" tIns="0" rIns="0" bIns="0" rtlCol="0" anchor="ctr"/>
          <a:lstStyle/>
          <a:p>
            <a:pPr indent="0" marL="0">
              <a:buNone/>
            </a:pPr>
            <a:r>
              <a:rPr lang="en-US" sz="1050" b="1" dirty="0">
                <a:solidFill>
                  <a:srgbClr val="F5A623"/>
                </a:solidFill>
                <a:latin typeface="Calibri" pitchFamily="34" charset="0"/>
                <a:ea typeface="Calibri" pitchFamily="34" charset="-122"/>
                <a:cs typeface="Calibri" pitchFamily="34" charset="-120"/>
              </a:rPr>
              <a:t>Art. 11 – Politiques de rétention</a:t>
            </a:r>
            <a:endParaRPr lang="en-US" sz="1050" dirty="0"/>
          </a:p>
        </p:txBody>
      </p:sp>
      <p:sp>
        <p:nvSpPr>
          <p:cNvPr id="17" name="Text 15"/>
          <p:cNvSpPr/>
          <p:nvPr/>
        </p:nvSpPr>
        <p:spPr>
          <a:xfrm>
            <a:off x="4892040" y="1773936"/>
            <a:ext cx="3977640" cy="1143000"/>
          </a:xfrm>
          <a:prstGeom prst="rect">
            <a:avLst/>
          </a:prstGeom>
          <a:noFill/>
          <a:ln/>
        </p:spPr>
        <p:txBody>
          <a:bodyPr wrap="square" lIns="0" tIns="0" rIns="0" bIns="0" rtlCol="0" anchor="ctr"/>
          <a:lstStyle/>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Rétention minimale 7 ans pour les établissements financiers</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Immutabilité des sauvegardes (protection anti-ransomware)</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Traçabilité des accès aux données sauvegardées (audit log)</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Support des supports longue durée (LTO WORM, stockage immuable)</a:t>
            </a:r>
            <a:endParaRPr lang="en-US" sz="900" dirty="0"/>
          </a:p>
        </p:txBody>
      </p:sp>
      <p:sp>
        <p:nvSpPr>
          <p:cNvPr id="18" name="Shape 16"/>
          <p:cNvSpPr/>
          <p:nvPr/>
        </p:nvSpPr>
        <p:spPr>
          <a:xfrm>
            <a:off x="320040" y="3108960"/>
            <a:ext cx="4206240" cy="16002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20040" y="3108960"/>
            <a:ext cx="4206240" cy="347472"/>
          </a:xfrm>
          <a:prstGeom prst="rect">
            <a:avLst/>
          </a:prstGeom>
          <a:solidFill>
            <a:srgbClr val="0D1B4B"/>
          </a:solidFill>
          <a:ln w="12700">
            <a:solidFill>
              <a:srgbClr val="0D1B4B"/>
            </a:solidFill>
            <a:prstDash val="solid"/>
          </a:ln>
        </p:spPr>
      </p:sp>
      <p:sp>
        <p:nvSpPr>
          <p:cNvPr id="20" name="Text 18"/>
          <p:cNvSpPr/>
          <p:nvPr/>
        </p:nvSpPr>
        <p:spPr>
          <a:xfrm>
            <a:off x="411480" y="3145536"/>
            <a:ext cx="4023360" cy="274320"/>
          </a:xfrm>
          <a:prstGeom prst="rect">
            <a:avLst/>
          </a:prstGeom>
          <a:noFill/>
          <a:ln/>
        </p:spPr>
        <p:txBody>
          <a:bodyPr wrap="square" lIns="0" tIns="0" rIns="0" bIns="0" rtlCol="0" anchor="ctr"/>
          <a:lstStyle/>
          <a:p>
            <a:pPr indent="0" marL="0">
              <a:buNone/>
            </a:pPr>
            <a:r>
              <a:rPr lang="en-US" sz="1050" b="1" dirty="0">
                <a:solidFill>
                  <a:srgbClr val="F5A623"/>
                </a:solidFill>
                <a:latin typeface="Calibri" pitchFamily="34" charset="0"/>
                <a:ea typeface="Calibri" pitchFamily="34" charset="-122"/>
                <a:cs typeface="Calibri" pitchFamily="34" charset="-120"/>
              </a:rPr>
              <a:t>Art. 13 &amp; 25 – Tests de résilience</a:t>
            </a:r>
            <a:endParaRPr lang="en-US" sz="1050" dirty="0"/>
          </a:p>
        </p:txBody>
      </p:sp>
      <p:sp>
        <p:nvSpPr>
          <p:cNvPr id="21" name="Text 19"/>
          <p:cNvSpPr/>
          <p:nvPr/>
        </p:nvSpPr>
        <p:spPr>
          <a:xfrm>
            <a:off x="457200" y="3511296"/>
            <a:ext cx="3977640" cy="1143000"/>
          </a:xfrm>
          <a:prstGeom prst="rect">
            <a:avLst/>
          </a:prstGeom>
          <a:noFill/>
          <a:ln/>
        </p:spPr>
        <p:txBody>
          <a:bodyPr wrap="square" lIns="0" tIns="0" rIns="0" bIns="0" rtlCol="0" anchor="ctr"/>
          <a:lstStyle/>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TLPT (Threat Led Penetration Testing) annuel</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Tests de restauration documentés &amp; validés trimestriellement</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BCP/DRP incluant les workloads Kubernetes</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Simulations de sinistre incluant perte totale d'un cluster</a:t>
            </a:r>
            <a:endParaRPr lang="en-US" sz="900" dirty="0"/>
          </a:p>
        </p:txBody>
      </p:sp>
      <p:sp>
        <p:nvSpPr>
          <p:cNvPr id="22" name="Shape 20"/>
          <p:cNvSpPr/>
          <p:nvPr/>
        </p:nvSpPr>
        <p:spPr>
          <a:xfrm>
            <a:off x="4754880" y="3108960"/>
            <a:ext cx="4206240" cy="16002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754880" y="3108960"/>
            <a:ext cx="4206240" cy="347472"/>
          </a:xfrm>
          <a:prstGeom prst="rect">
            <a:avLst/>
          </a:prstGeom>
          <a:solidFill>
            <a:srgbClr val="0D1B4B"/>
          </a:solidFill>
          <a:ln w="12700">
            <a:solidFill>
              <a:srgbClr val="0D1B4B"/>
            </a:solidFill>
            <a:prstDash val="solid"/>
          </a:ln>
        </p:spPr>
      </p:sp>
      <p:sp>
        <p:nvSpPr>
          <p:cNvPr id="24" name="Text 22"/>
          <p:cNvSpPr/>
          <p:nvPr/>
        </p:nvSpPr>
        <p:spPr>
          <a:xfrm>
            <a:off x="4846320" y="3145536"/>
            <a:ext cx="4023360" cy="274320"/>
          </a:xfrm>
          <a:prstGeom prst="rect">
            <a:avLst/>
          </a:prstGeom>
          <a:noFill/>
          <a:ln/>
        </p:spPr>
        <p:txBody>
          <a:bodyPr wrap="square" lIns="0" tIns="0" rIns="0" bIns="0" rtlCol="0" anchor="ctr"/>
          <a:lstStyle/>
          <a:p>
            <a:pPr indent="0" marL="0">
              <a:buNone/>
            </a:pPr>
            <a:r>
              <a:rPr lang="en-US" sz="1050" b="1" dirty="0">
                <a:solidFill>
                  <a:srgbClr val="F5A623"/>
                </a:solidFill>
                <a:latin typeface="Calibri" pitchFamily="34" charset="0"/>
                <a:ea typeface="Calibri" pitchFamily="34" charset="-122"/>
                <a:cs typeface="Calibri" pitchFamily="34" charset="-120"/>
              </a:rPr>
              <a:t>Art. 28-44 – Risque tiers &amp; reporting</a:t>
            </a:r>
            <a:endParaRPr lang="en-US" sz="1050" dirty="0"/>
          </a:p>
        </p:txBody>
      </p:sp>
      <p:sp>
        <p:nvSpPr>
          <p:cNvPr id="25" name="Text 23"/>
          <p:cNvSpPr/>
          <p:nvPr/>
        </p:nvSpPr>
        <p:spPr>
          <a:xfrm>
            <a:off x="4892040" y="3511296"/>
            <a:ext cx="3977640" cy="1143000"/>
          </a:xfrm>
          <a:prstGeom prst="rect">
            <a:avLst/>
          </a:prstGeom>
          <a:noFill/>
          <a:ln/>
        </p:spPr>
        <p:txBody>
          <a:bodyPr wrap="square" lIns="0" tIns="0" rIns="0" bIns="0" rtlCol="0" anchor="ctr"/>
          <a:lstStyle/>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Due diligence sur les fournisseurs de solutions de backup</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Contrats TPSP (Third Party Service Provider) avec SLA backup</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Notification incidents ICT &lt; 4h (initial) &lt; 24h (intermédiaire)</a:t>
            </a:r>
            <a:endParaRPr lang="en-US" sz="900" dirty="0"/>
          </a:p>
          <a:p>
            <a:pPr marL="342900" indent="-342900">
              <a:buSzPct val="100000"/>
              <a:buChar char="•"/>
            </a:pPr>
            <a:r>
              <a:rPr lang="en-US" sz="900" dirty="0">
                <a:solidFill>
                  <a:srgbClr val="1A2040"/>
                </a:solidFill>
                <a:latin typeface="Calibri" pitchFamily="34" charset="0"/>
                <a:ea typeface="Calibri" pitchFamily="34" charset="-122"/>
                <a:cs typeface="Calibri" pitchFamily="34" charset="-120"/>
              </a:rPr>
              <a:t>Registre des dépendances critiques tiers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Architecture cible de sauvegarde</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LTO (rétention 10 ans) + Dell EMC Data Domain (1 mois – 1 an)</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4</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274320" y="1005840"/>
            <a:ext cx="4023360" cy="1371600"/>
          </a:xfrm>
          <a:prstGeom prst="rect">
            <a:avLst/>
          </a:prstGeom>
          <a:solidFill>
            <a:srgbClr val="EBF3FF"/>
          </a:solidFill>
          <a:ln w="25400">
            <a:solidFill>
              <a:srgbClr val="2E5FD9"/>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65760" y="1024128"/>
            <a:ext cx="3840480" cy="274320"/>
          </a:xfrm>
          <a:prstGeom prst="rect">
            <a:avLst/>
          </a:prstGeom>
          <a:noFill/>
          <a:ln/>
        </p:spPr>
        <p:txBody>
          <a:bodyPr wrap="square" lIns="0" tIns="0" rIns="0" bIns="0" rtlCol="0" anchor="ctr"/>
          <a:lstStyle/>
          <a:p>
            <a:pPr indent="0" marL="0">
              <a:buNone/>
            </a:pPr>
            <a:r>
              <a:rPr lang="en-US" sz="950" b="1" dirty="0">
                <a:solidFill>
                  <a:srgbClr val="1A3A8F"/>
                </a:solidFill>
                <a:latin typeface="Calibri" pitchFamily="34" charset="0"/>
                <a:ea typeface="Calibri" pitchFamily="34" charset="-122"/>
                <a:cs typeface="Calibri" pitchFamily="34" charset="-120"/>
              </a:rPr>
              <a:t>TIER 1 – DISK (Rétention Court/Moyen Terme)</a:t>
            </a:r>
            <a:endParaRPr lang="en-US" sz="950" dirty="0"/>
          </a:p>
        </p:txBody>
      </p:sp>
      <p:sp>
        <p:nvSpPr>
          <p:cNvPr id="11" name="Text 9"/>
          <p:cNvSpPr/>
          <p:nvPr/>
        </p:nvSpPr>
        <p:spPr>
          <a:xfrm>
            <a:off x="365760" y="1298448"/>
            <a:ext cx="3657600" cy="256032"/>
          </a:xfrm>
          <a:prstGeom prst="rect">
            <a:avLst/>
          </a:prstGeom>
          <a:noFill/>
          <a:ln/>
        </p:spPr>
        <p:txBody>
          <a:bodyPr wrap="square" lIns="0" tIns="0" rIns="0" bIns="0" rtlCol="0" anchor="ctr"/>
          <a:lstStyle/>
          <a:p>
            <a:pPr indent="0" marL="0">
              <a:buNone/>
            </a:pPr>
            <a:r>
              <a:rPr lang="en-US" sz="1200" b="1" dirty="0">
                <a:solidFill>
                  <a:srgbClr val="1A2040"/>
                </a:solidFill>
                <a:latin typeface="Calibri" pitchFamily="34" charset="0"/>
                <a:ea typeface="Calibri" pitchFamily="34" charset="-122"/>
                <a:cs typeface="Calibri" pitchFamily="34" charset="-120"/>
              </a:rPr>
              <a:t>Dell EMC Data Domain</a:t>
            </a:r>
            <a:endParaRPr lang="en-US" sz="1200" dirty="0"/>
          </a:p>
        </p:txBody>
      </p:sp>
      <p:sp>
        <p:nvSpPr>
          <p:cNvPr id="12" name="Text 10"/>
          <p:cNvSpPr/>
          <p:nvPr/>
        </p:nvSpPr>
        <p:spPr>
          <a:xfrm>
            <a:off x="365760" y="1572768"/>
            <a:ext cx="3749040" cy="713232"/>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Déduplication globale jusqu'à 65:1 (DDBoost)</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Rétention : 1 mois (logs) → 12 mois (données métier)</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Protocoles : DDBoost, NFS, CIFS, S3 compatible, OST</a:t>
            </a:r>
            <a:endParaRPr lang="en-US" sz="850" dirty="0"/>
          </a:p>
        </p:txBody>
      </p:sp>
      <p:sp>
        <p:nvSpPr>
          <p:cNvPr id="13" name="Shape 11"/>
          <p:cNvSpPr/>
          <p:nvPr/>
        </p:nvSpPr>
        <p:spPr>
          <a:xfrm>
            <a:off x="4846320" y="1005840"/>
            <a:ext cx="4023360" cy="1371600"/>
          </a:xfrm>
          <a:prstGeom prst="rect">
            <a:avLst/>
          </a:prstGeom>
          <a:solidFill>
            <a:srgbClr val="FFF4E5"/>
          </a:solidFill>
          <a:ln w="25400">
            <a:solidFill>
              <a:srgbClr val="F5A623"/>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4937760" y="1024128"/>
            <a:ext cx="3840480" cy="274320"/>
          </a:xfrm>
          <a:prstGeom prst="rect">
            <a:avLst/>
          </a:prstGeom>
          <a:noFill/>
          <a:ln/>
        </p:spPr>
        <p:txBody>
          <a:bodyPr wrap="square" lIns="0" tIns="0" rIns="0" bIns="0" rtlCol="0" anchor="ctr"/>
          <a:lstStyle/>
          <a:p>
            <a:pPr indent="0" marL="0">
              <a:buNone/>
            </a:pPr>
            <a:r>
              <a:rPr lang="en-US" sz="950" b="1" dirty="0">
                <a:solidFill>
                  <a:srgbClr val="D4720B"/>
                </a:solidFill>
                <a:latin typeface="Calibri" pitchFamily="34" charset="0"/>
                <a:ea typeface="Calibri" pitchFamily="34" charset="-122"/>
                <a:cs typeface="Calibri" pitchFamily="34" charset="-120"/>
              </a:rPr>
              <a:t>TIER 2 – BANDE (Rétention Long Terme)</a:t>
            </a:r>
            <a:endParaRPr lang="en-US" sz="950" dirty="0"/>
          </a:p>
        </p:txBody>
      </p:sp>
      <p:sp>
        <p:nvSpPr>
          <p:cNvPr id="15" name="Text 13"/>
          <p:cNvSpPr/>
          <p:nvPr/>
        </p:nvSpPr>
        <p:spPr>
          <a:xfrm>
            <a:off x="4937760" y="1298448"/>
            <a:ext cx="3657600" cy="256032"/>
          </a:xfrm>
          <a:prstGeom prst="rect">
            <a:avLst/>
          </a:prstGeom>
          <a:noFill/>
          <a:ln/>
        </p:spPr>
        <p:txBody>
          <a:bodyPr wrap="square" lIns="0" tIns="0" rIns="0" bIns="0" rtlCol="0" anchor="ctr"/>
          <a:lstStyle/>
          <a:p>
            <a:pPr indent="0" marL="0">
              <a:buNone/>
            </a:pPr>
            <a:r>
              <a:rPr lang="en-US" sz="1200" b="1" dirty="0">
                <a:solidFill>
                  <a:srgbClr val="1A2040"/>
                </a:solidFill>
                <a:latin typeface="Calibri" pitchFamily="34" charset="0"/>
                <a:ea typeface="Calibri" pitchFamily="34" charset="-122"/>
                <a:cs typeface="Calibri" pitchFamily="34" charset="-120"/>
              </a:rPr>
              <a:t>Bibliothèque LTO (LTO-8/9)</a:t>
            </a:r>
            <a:endParaRPr lang="en-US" sz="1200" dirty="0"/>
          </a:p>
        </p:txBody>
      </p:sp>
      <p:sp>
        <p:nvSpPr>
          <p:cNvPr id="16" name="Text 14"/>
          <p:cNvSpPr/>
          <p:nvPr/>
        </p:nvSpPr>
        <p:spPr>
          <a:xfrm>
            <a:off x="4937760" y="1572768"/>
            <a:ext cx="3749040" cy="713232"/>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Capacité native LTO-9 : 18 TB/cartouche (45 TB compressé)</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Rétention : 3 ans → 10 ans (conformité DORA/fiscale)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Support WORM (cartouches non réinscriptibles) + chiffrement AES-256</a:t>
            </a:r>
            <a:endParaRPr lang="en-US" sz="850" dirty="0"/>
          </a:p>
        </p:txBody>
      </p:sp>
      <p:sp>
        <p:nvSpPr>
          <p:cNvPr id="17" name="Shape 15"/>
          <p:cNvSpPr/>
          <p:nvPr/>
        </p:nvSpPr>
        <p:spPr>
          <a:xfrm>
            <a:off x="4297680" y="1691640"/>
            <a:ext cx="548640" cy="0"/>
          </a:xfrm>
          <a:prstGeom prst="line">
            <a:avLst/>
          </a:prstGeom>
          <a:noFill/>
          <a:ln w="19050">
            <a:solidFill>
              <a:srgbClr val="5C6680"/>
            </a:solidFill>
            <a:prstDash val="sysDash"/>
          </a:ln>
        </p:spPr>
      </p:sp>
      <p:sp>
        <p:nvSpPr>
          <p:cNvPr id="18" name="Text 16"/>
          <p:cNvSpPr/>
          <p:nvPr/>
        </p:nvSpPr>
        <p:spPr>
          <a:xfrm>
            <a:off x="4224528" y="1572768"/>
            <a:ext cx="694944" cy="219456"/>
          </a:xfrm>
          <a:prstGeom prst="rect">
            <a:avLst/>
          </a:prstGeom>
          <a:noFill/>
          <a:ln/>
        </p:spPr>
        <p:txBody>
          <a:bodyPr wrap="square" lIns="0" tIns="0" rIns="0" bIns="0" rtlCol="0" anchor="ctr"/>
          <a:lstStyle/>
          <a:p>
            <a:pPr algn="ctr" indent="0" marL="0">
              <a:buNone/>
            </a:pPr>
            <a:r>
              <a:rPr lang="en-US" sz="750" dirty="0">
                <a:solidFill>
                  <a:srgbClr val="5C6680"/>
                </a:solidFill>
                <a:latin typeface="Calibri" pitchFamily="34" charset="0"/>
                <a:ea typeface="Calibri" pitchFamily="34" charset="-122"/>
                <a:cs typeface="Calibri" pitchFamily="34" charset="-120"/>
              </a:rPr>
              <a:t>Tiering</a:t>
            </a:r>
            <a:endParaRPr lang="en-US" sz="750" dirty="0"/>
          </a:p>
        </p:txBody>
      </p:sp>
      <p:sp>
        <p:nvSpPr>
          <p:cNvPr id="19" name="Text 17"/>
          <p:cNvSpPr/>
          <p:nvPr/>
        </p:nvSpPr>
        <p:spPr>
          <a:xfrm>
            <a:off x="4251960" y="1664208"/>
            <a:ext cx="640080" cy="228600"/>
          </a:xfrm>
          <a:prstGeom prst="rect">
            <a:avLst/>
          </a:prstGeom>
          <a:noFill/>
          <a:ln/>
        </p:spPr>
        <p:txBody>
          <a:bodyPr wrap="square" lIns="0" tIns="0" rIns="0" bIns="0" rtlCol="0" anchor="ctr"/>
          <a:lstStyle/>
          <a:p>
            <a:pPr algn="ctr" indent="0" marL="0">
              <a:buNone/>
            </a:pPr>
            <a:r>
              <a:rPr lang="en-US" sz="1400" dirty="0">
                <a:solidFill>
                  <a:srgbClr val="5C6680"/>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274320" y="2606040"/>
            <a:ext cx="8595360" cy="502920"/>
          </a:xfrm>
          <a:prstGeom prst="rect">
            <a:avLst/>
          </a:prstGeom>
          <a:solidFill>
            <a:srgbClr val="F0F4FF"/>
          </a:solidFill>
          <a:ln w="12700">
            <a:solidFill>
              <a:srgbClr val="C0CCEE"/>
            </a:solidFill>
            <a:prstDash val="solid"/>
          </a:ln>
        </p:spPr>
      </p:sp>
      <p:sp>
        <p:nvSpPr>
          <p:cNvPr id="21" name="Text 19"/>
          <p:cNvSpPr/>
          <p:nvPr/>
        </p:nvSpPr>
        <p:spPr>
          <a:xfrm>
            <a:off x="411480" y="2670048"/>
            <a:ext cx="8321040" cy="320040"/>
          </a:xfrm>
          <a:prstGeom prst="rect">
            <a:avLst/>
          </a:prstGeom>
          <a:noFill/>
          <a:ln/>
        </p:spPr>
        <p:txBody>
          <a:bodyPr wrap="square" lIns="0" tIns="0" rIns="0" bIns="0" rtlCol="0" anchor="ctr"/>
          <a:lstStyle/>
          <a:p>
            <a:pPr indent="0" marL="0">
              <a:buNone/>
            </a:pPr>
            <a:r>
              <a:rPr lang="en-US" sz="950" dirty="0">
                <a:solidFill>
                  <a:srgbClr val="1A2040"/>
                </a:solidFill>
                <a:latin typeface="Calibri" pitchFamily="34" charset="0"/>
                <a:ea typeface="Calibri" pitchFamily="34" charset="-122"/>
                <a:cs typeface="Calibri" pitchFamily="34" charset="-120"/>
              </a:rPr>
              <a:t>Sources : Cluster OpenShift (Production) — Namespaces / PVCs / ETCD / ConfigMaps / Secrets / CRDs / Helm Releases</a:t>
            </a:r>
            <a:endParaRPr lang="en-US" sz="950" dirty="0"/>
          </a:p>
        </p:txBody>
      </p:sp>
      <p:sp>
        <p:nvSpPr>
          <p:cNvPr id="22" name="Text 20"/>
          <p:cNvSpPr/>
          <p:nvPr/>
        </p:nvSpPr>
        <p:spPr>
          <a:xfrm>
            <a:off x="320040" y="3246120"/>
            <a:ext cx="8229600" cy="274320"/>
          </a:xfrm>
          <a:prstGeom prst="rect">
            <a:avLst/>
          </a:prstGeom>
          <a:noFill/>
          <a:ln/>
        </p:spPr>
        <p:txBody>
          <a:bodyPr wrap="square" lIns="0" tIns="0" rIns="0" bIns="0" rtlCol="0" anchor="ctr"/>
          <a:lstStyle/>
          <a:p>
            <a:pPr indent="0" marL="0">
              <a:buNone/>
            </a:pPr>
            <a:r>
              <a:rPr lang="en-US" sz="1200" b="1" dirty="0">
                <a:solidFill>
                  <a:srgbClr val="1A2040"/>
                </a:solidFill>
                <a:latin typeface="Calibri" pitchFamily="34" charset="0"/>
                <a:ea typeface="Calibri" pitchFamily="34" charset="-122"/>
                <a:cs typeface="Calibri" pitchFamily="34" charset="-120"/>
              </a:rPr>
              <a:t>Matrice de rétention recommandée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3566160"/>
          <a:ext cx="8503920" cy="1325880"/>
        </p:xfrm>
        <a:graphic>
          <a:graphicData uri="http://schemas.openxmlformats.org/drawingml/2006/table">
            <a:tbl>
              <a:tblPr/>
              <a:tblGrid>
                <a:gridCol w="2011680"/>
                <a:gridCol w="1463040"/>
                <a:gridCol w="2194560"/>
                <a:gridCol w="2834640"/>
              </a:tblGrid>
              <a:tr h="219456">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Type de données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Fréquence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Rétention Data Domain</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Rétention LTO</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r>
              <a:tr h="219456">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Manifests K8s / Config</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Quotidien</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3 mois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7 ans (DORA)</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219456">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Volumes persistants (PVC)</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Quotidien / Horaire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 mois (incrémentiel)</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3 ans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219456">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ETCD cluster</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Toutes les 6h</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 mois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 an</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219456">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Données applicatives critiques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Quotidien</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6 mois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10 ans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219456">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Logs opérationnels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Quotidien</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 mois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7 ans (réglementaire)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Veritas NetBackup for Kubernetes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Solution enterprise – Opérateur natif Kubernetes – Intégration Data Domain &amp; LTO</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5</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274320" y="914400"/>
            <a:ext cx="1371600" cy="411480"/>
          </a:xfrm>
          <a:prstGeom prst="rect">
            <a:avLst/>
          </a:prstGeom>
          <a:solidFill>
            <a:srgbClr val="0066CC"/>
          </a:solidFill>
          <a:ln w="12700">
            <a:solidFill>
              <a:srgbClr val="0066CC"/>
            </a:solidFill>
            <a:prstDash val="solid"/>
          </a:ln>
        </p:spPr>
      </p:sp>
      <p:sp>
        <p:nvSpPr>
          <p:cNvPr id="10" name="Text 8"/>
          <p:cNvSpPr/>
          <p:nvPr/>
        </p:nvSpPr>
        <p:spPr>
          <a:xfrm>
            <a:off x="274320" y="914400"/>
            <a:ext cx="13716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VERITAS</a:t>
            </a:r>
            <a:endParaRPr lang="en-US" sz="1100" dirty="0"/>
          </a:p>
        </p:txBody>
      </p:sp>
      <p:sp>
        <p:nvSpPr>
          <p:cNvPr id="11" name="Shape 9"/>
          <p:cNvSpPr/>
          <p:nvPr/>
        </p:nvSpPr>
        <p:spPr>
          <a:xfrm>
            <a:off x="320040" y="987552"/>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987552"/>
            <a:ext cx="4206240" cy="347472"/>
          </a:xfrm>
          <a:prstGeom prst="rect">
            <a:avLst/>
          </a:prstGeom>
          <a:solidFill>
            <a:srgbClr val="0066CC"/>
          </a:solidFill>
          <a:ln w="12700">
            <a:solidFill>
              <a:srgbClr val="0066CC"/>
            </a:solidFill>
            <a:prstDash val="solid"/>
          </a:ln>
        </p:spPr>
      </p:sp>
      <p:sp>
        <p:nvSpPr>
          <p:cNvPr id="13" name="Text 11"/>
          <p:cNvSpPr/>
          <p:nvPr/>
        </p:nvSpPr>
        <p:spPr>
          <a:xfrm>
            <a:off x="411480" y="1033272"/>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Déploiement &amp; Intégration K8s</a:t>
            </a:r>
            <a:endParaRPr lang="en-US" sz="1000" dirty="0"/>
          </a:p>
        </p:txBody>
      </p:sp>
      <p:sp>
        <p:nvSpPr>
          <p:cNvPr id="14" name="Text 12"/>
          <p:cNvSpPr/>
          <p:nvPr/>
        </p:nvSpPr>
        <p:spPr>
          <a:xfrm>
            <a:off x="429768" y="1389888"/>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Opérateur Kubernetes natif (Helm chart + CRDs)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Support OpenShift 4.x certifié Red Hat</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RBAC granulaire par namespace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Découverte automatique des namespaces &amp; PVCs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API REST pour l'orchestration et l'automatisation</a:t>
            </a:r>
            <a:endParaRPr lang="en-US" sz="850" dirty="0"/>
          </a:p>
        </p:txBody>
      </p:sp>
      <p:sp>
        <p:nvSpPr>
          <p:cNvPr id="15" name="Shape 13"/>
          <p:cNvSpPr/>
          <p:nvPr/>
        </p:nvSpPr>
        <p:spPr>
          <a:xfrm>
            <a:off x="4754880" y="987552"/>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754880" y="987552"/>
            <a:ext cx="4206240" cy="347472"/>
          </a:xfrm>
          <a:prstGeom prst="rect">
            <a:avLst/>
          </a:prstGeom>
          <a:solidFill>
            <a:srgbClr val="0066CC"/>
          </a:solidFill>
          <a:ln w="12700">
            <a:solidFill>
              <a:srgbClr val="0066CC"/>
            </a:solidFill>
            <a:prstDash val="solid"/>
          </a:ln>
        </p:spPr>
      </p:sp>
      <p:sp>
        <p:nvSpPr>
          <p:cNvPr id="17" name="Text 15"/>
          <p:cNvSpPr/>
          <p:nvPr/>
        </p:nvSpPr>
        <p:spPr>
          <a:xfrm>
            <a:off x="4846320" y="1033272"/>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Capacités de sauvegarde</a:t>
            </a:r>
            <a:endParaRPr lang="en-US" sz="1000" dirty="0"/>
          </a:p>
        </p:txBody>
      </p:sp>
      <p:sp>
        <p:nvSpPr>
          <p:cNvPr id="18" name="Text 16"/>
          <p:cNvSpPr/>
          <p:nvPr/>
        </p:nvSpPr>
        <p:spPr>
          <a:xfrm>
            <a:off x="4864608" y="1389888"/>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Backup au niveau namespace, label selector, application</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Sauvegarde cohérente application-aware (hooks pre/post)</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Support des snapshots CSI (Container Storage Interface)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Sauvegarde incrémentale block-level (BLIB) pour PVCs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Copie de catalogue chiffrée pour la reprise catalogue</a:t>
            </a:r>
            <a:endParaRPr lang="en-US" sz="850" dirty="0"/>
          </a:p>
        </p:txBody>
      </p:sp>
      <p:sp>
        <p:nvSpPr>
          <p:cNvPr id="19" name="Shape 17"/>
          <p:cNvSpPr/>
          <p:nvPr/>
        </p:nvSpPr>
        <p:spPr>
          <a:xfrm>
            <a:off x="320040" y="2926080"/>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20040" y="2926080"/>
            <a:ext cx="4206240" cy="347472"/>
          </a:xfrm>
          <a:prstGeom prst="rect">
            <a:avLst/>
          </a:prstGeom>
          <a:solidFill>
            <a:srgbClr val="1A6B44"/>
          </a:solidFill>
          <a:ln w="12700">
            <a:solidFill>
              <a:srgbClr val="1A6B44"/>
            </a:solidFill>
            <a:prstDash val="solid"/>
          </a:ln>
        </p:spPr>
      </p:sp>
      <p:sp>
        <p:nvSpPr>
          <p:cNvPr id="21" name="Text 19"/>
          <p:cNvSpPr/>
          <p:nvPr/>
        </p:nvSpPr>
        <p:spPr>
          <a:xfrm>
            <a:off x="411480" y="2971800"/>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Intégration stockage</a:t>
            </a:r>
            <a:endParaRPr lang="en-US" sz="1000" dirty="0"/>
          </a:p>
        </p:txBody>
      </p:sp>
      <p:sp>
        <p:nvSpPr>
          <p:cNvPr id="22" name="Text 20"/>
          <p:cNvSpPr/>
          <p:nvPr/>
        </p:nvSpPr>
        <p:spPr>
          <a:xfrm>
            <a:off x="429768" y="3328416"/>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Data Domain via OST (OpenStorage Technology) natif → déduplication DDBoost</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LTO via Media Server NetBackup → support WORM, chiffrement AES-256</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CloudCatalyst pour staging vers S3 avant LTO (optimisation bande passante)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MSDP (Media Server Deduplication Pool) en alternative DD</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Support multi-target : DD + LTO simultanément (SLP - Storage Lifecycle Policy)</a:t>
            </a:r>
            <a:endParaRPr lang="en-US" sz="850" dirty="0"/>
          </a:p>
        </p:txBody>
      </p:sp>
      <p:sp>
        <p:nvSpPr>
          <p:cNvPr id="23" name="Shape 21"/>
          <p:cNvSpPr/>
          <p:nvPr/>
        </p:nvSpPr>
        <p:spPr>
          <a:xfrm>
            <a:off x="4754880" y="2926080"/>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754880" y="2926080"/>
            <a:ext cx="4206240" cy="347472"/>
          </a:xfrm>
          <a:prstGeom prst="rect">
            <a:avLst/>
          </a:prstGeom>
          <a:solidFill>
            <a:srgbClr val="D4720B"/>
          </a:solidFill>
          <a:ln w="12700">
            <a:solidFill>
              <a:srgbClr val="D4720B"/>
            </a:solidFill>
            <a:prstDash val="solid"/>
          </a:ln>
        </p:spPr>
      </p:sp>
      <p:sp>
        <p:nvSpPr>
          <p:cNvPr id="25" name="Text 23"/>
          <p:cNvSpPr/>
          <p:nvPr/>
        </p:nvSpPr>
        <p:spPr>
          <a:xfrm>
            <a:off x="4846320" y="2971800"/>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Reporting &amp; Compliance</a:t>
            </a:r>
            <a:endParaRPr lang="en-US" sz="1000" dirty="0"/>
          </a:p>
        </p:txBody>
      </p:sp>
      <p:sp>
        <p:nvSpPr>
          <p:cNvPr id="26" name="Text 24"/>
          <p:cNvSpPr/>
          <p:nvPr/>
        </p:nvSpPr>
        <p:spPr>
          <a:xfrm>
            <a:off x="4864608" y="3328416"/>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OpsCenter : tableau de bord centralisé multi-cluster</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Rapports de conformité DORA (rétention, chiffrement, tests)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Audit log complet des opérations de sauvegarde/restauration</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Alertes proactives (échec job, quota, expiration)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Veritas NetBackup – Analyse Points Forts / Points Faibles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Évaluation objective basée sur les fonctionnalités produit et retours terrain</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6</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320040" y="960120"/>
            <a:ext cx="4160520" cy="3154680"/>
          </a:xfrm>
          <a:prstGeom prst="rect">
            <a:avLst/>
          </a:prstGeom>
          <a:solidFill>
            <a:srgbClr val="F0FAF4"/>
          </a:solidFill>
          <a:ln w="19050">
            <a:solidFill>
              <a:srgbClr val="1A7A4A"/>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960120"/>
            <a:ext cx="4160520" cy="365760"/>
          </a:xfrm>
          <a:prstGeom prst="rect">
            <a:avLst/>
          </a:prstGeom>
          <a:solidFill>
            <a:srgbClr val="1A7A4A"/>
          </a:solidFill>
          <a:ln w="12700">
            <a:solidFill>
              <a:srgbClr val="1A7A4A"/>
            </a:solidFill>
            <a:prstDash val="solid"/>
          </a:ln>
        </p:spPr>
      </p:sp>
      <p:sp>
        <p:nvSpPr>
          <p:cNvPr id="11" name="Text 9"/>
          <p:cNvSpPr/>
          <p:nvPr/>
        </p:nvSpPr>
        <p:spPr>
          <a:xfrm>
            <a:off x="411480" y="987552"/>
            <a:ext cx="39776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POINTS FORTS</a:t>
            </a:r>
            <a:endParaRPr lang="en-US" sz="1100" dirty="0"/>
          </a:p>
        </p:txBody>
      </p:sp>
      <p:sp>
        <p:nvSpPr>
          <p:cNvPr id="12" name="Text 10"/>
          <p:cNvSpPr/>
          <p:nvPr/>
        </p:nvSpPr>
        <p:spPr>
          <a:xfrm>
            <a:off x="457200" y="1389888"/>
            <a:ext cx="3931920" cy="2651760"/>
          </a:xfrm>
          <a:prstGeom prst="rect">
            <a:avLst/>
          </a:prstGeom>
          <a:noFill/>
          <a:ln/>
        </p:spPr>
        <p:txBody>
          <a:bodyPr wrap="square" lIns="0" tIns="0" rIns="0" bIns="0" rtlCol="0" anchor="ctr"/>
          <a:lstStyle/>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Maturité produit : &gt; 30 ans d'expérience enterprise, référence secteur financier</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Intégration LTO la plus complète : SLP (Storage Lifecycle Policy) gère automatiquement le tiering DD → LTO</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DDBoost natif : déduplication côté client, réduit le trafic réseau de 50 à 80 %</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Granularité fine : restauration fichier, namespace, PVC, manifeste individuel</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Multi-cloud : backup vers AWS S3, Azure Blob, GCS + LTO (flexibilité cible)</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Chiffrement : AES-256 en transit et au repos (exigence DORA Art. 9)</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SLA &amp; support enterprise : support 24/7, SLA contractuels, certifications FIPS 140-2</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Catalogue répliqué : survie à la perte complète du master server (immutabilité)</a:t>
            </a:r>
            <a:endParaRPr lang="en-US" sz="880" dirty="0"/>
          </a:p>
        </p:txBody>
      </p:sp>
      <p:sp>
        <p:nvSpPr>
          <p:cNvPr id="13" name="Shape 11"/>
          <p:cNvSpPr/>
          <p:nvPr/>
        </p:nvSpPr>
        <p:spPr>
          <a:xfrm>
            <a:off x="4709160" y="960120"/>
            <a:ext cx="4160520" cy="3154680"/>
          </a:xfrm>
          <a:prstGeom prst="rect">
            <a:avLst/>
          </a:prstGeom>
          <a:solidFill>
            <a:srgbClr val="FEF0F0"/>
          </a:solidFill>
          <a:ln w="19050">
            <a:solidFill>
              <a:srgbClr val="C0392B"/>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709160" y="960120"/>
            <a:ext cx="4160520" cy="365760"/>
          </a:xfrm>
          <a:prstGeom prst="rect">
            <a:avLst/>
          </a:prstGeom>
          <a:solidFill>
            <a:srgbClr val="C0392B"/>
          </a:solidFill>
          <a:ln w="12700">
            <a:solidFill>
              <a:srgbClr val="C0392B"/>
            </a:solidFill>
            <a:prstDash val="solid"/>
          </a:ln>
        </p:spPr>
      </p:sp>
      <p:sp>
        <p:nvSpPr>
          <p:cNvPr id="15" name="Text 13"/>
          <p:cNvSpPr/>
          <p:nvPr/>
        </p:nvSpPr>
        <p:spPr>
          <a:xfrm>
            <a:off x="4800600" y="987552"/>
            <a:ext cx="39776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POINTS FAIBLES</a:t>
            </a:r>
            <a:endParaRPr lang="en-US" sz="1100" dirty="0"/>
          </a:p>
        </p:txBody>
      </p:sp>
      <p:sp>
        <p:nvSpPr>
          <p:cNvPr id="16" name="Text 14"/>
          <p:cNvSpPr/>
          <p:nvPr/>
        </p:nvSpPr>
        <p:spPr>
          <a:xfrm>
            <a:off x="4846320" y="1389888"/>
            <a:ext cx="3931920" cy="2651760"/>
          </a:xfrm>
          <a:prstGeom prst="rect">
            <a:avLst/>
          </a:prstGeom>
          <a:noFill/>
          <a:ln/>
        </p:spPr>
        <p:txBody>
          <a:bodyPr wrap="square" lIns="0" tIns="0" rIns="0" bIns="0" rtlCol="0" anchor="ctr"/>
          <a:lstStyle/>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Complexité de déploiement : architecture multi-composants (Master, Media Servers, Client) → charge d'administration élevée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Coût de licence élevé : modèle FETB (Front-End Terabyte) + options coûteuses (Kubernetes Add-on, CloudCatalyst)</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Interface utilisateur vieillissante : NetBackup Web UI améliorée mais inférieure aux concurrents cloud-native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Agilité Kubernetes limitée : conçu historiquement pour les VMs/physiques, le support K8s est un add-on</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Footprint important : consommation ressources significant dans le cluster (opérateur, agents)</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Mises à jour : cycles de release longs comparés aux outils cloud-native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Formation requise : courbe d'apprentissage élevée pour les équipes DevOps</a:t>
            </a:r>
            <a:endParaRPr lang="en-US" sz="880" dirty="0"/>
          </a:p>
        </p:txBody>
      </p:sp>
      <p:sp>
        <p:nvSpPr>
          <p:cNvPr id="17" name="Shape 15"/>
          <p:cNvSpPr/>
          <p:nvPr/>
        </p:nvSpPr>
        <p:spPr>
          <a:xfrm>
            <a:off x="320040" y="4206240"/>
            <a:ext cx="8549640" cy="59436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457200" y="4251960"/>
            <a:ext cx="8321040" cy="502920"/>
          </a:xfrm>
          <a:prstGeom prst="rect">
            <a:avLst/>
          </a:prstGeom>
          <a:noFill/>
          <a:ln/>
        </p:spPr>
        <p:txBody>
          <a:bodyPr wrap="square" lIns="0" tIns="0" rIns="0" bIns="0" rtlCol="0" anchor="ctr"/>
          <a:lstStyle/>
          <a:p>
            <a:pPr indent="0" marL="0">
              <a:buNone/>
            </a:pPr>
            <a:r>
              <a:rPr lang="en-US" sz="900" i="1" dirty="0">
                <a:solidFill>
                  <a:srgbClr val="1A2040"/>
                </a:solidFill>
                <a:latin typeface="Calibri" pitchFamily="34" charset="0"/>
                <a:ea typeface="Calibri" pitchFamily="34" charset="-122"/>
                <a:cs typeface="Calibri" pitchFamily="34" charset="-120"/>
              </a:rPr>
              <a:t>Positionnement : Solution de référence pour les environnements enterprise hybrides nécessitant une intégration LTO et Data Domain éprouvée. Recommandée pour les DSI matures avec équipes backup dédiées.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Commvault Complete Backup &amp; Recovery for Kubernetes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Plateforme unifiée – Protection données exhaustive – DDBoost natif</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7</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274320" y="914400"/>
            <a:ext cx="1645920" cy="411480"/>
          </a:xfrm>
          <a:prstGeom prst="rect">
            <a:avLst/>
          </a:prstGeom>
          <a:solidFill>
            <a:srgbClr val="1F6FEB"/>
          </a:solidFill>
          <a:ln w="12700">
            <a:solidFill>
              <a:srgbClr val="1F6FEB"/>
            </a:solidFill>
            <a:prstDash val="solid"/>
          </a:ln>
        </p:spPr>
      </p:sp>
      <p:sp>
        <p:nvSpPr>
          <p:cNvPr id="10" name="Text 8"/>
          <p:cNvSpPr/>
          <p:nvPr/>
        </p:nvSpPr>
        <p:spPr>
          <a:xfrm>
            <a:off x="274320" y="914400"/>
            <a:ext cx="16459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COMMVAULT</a:t>
            </a:r>
            <a:endParaRPr lang="en-US" sz="1100" dirty="0"/>
          </a:p>
        </p:txBody>
      </p:sp>
      <p:sp>
        <p:nvSpPr>
          <p:cNvPr id="11" name="Shape 9"/>
          <p:cNvSpPr/>
          <p:nvPr/>
        </p:nvSpPr>
        <p:spPr>
          <a:xfrm>
            <a:off x="320040" y="987552"/>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987552"/>
            <a:ext cx="4206240" cy="347472"/>
          </a:xfrm>
          <a:prstGeom prst="rect">
            <a:avLst/>
          </a:prstGeom>
          <a:solidFill>
            <a:srgbClr val="1F6FEB"/>
          </a:solidFill>
          <a:ln w="12700">
            <a:solidFill>
              <a:srgbClr val="1F6FEB"/>
            </a:solidFill>
            <a:prstDash val="solid"/>
          </a:ln>
        </p:spPr>
      </p:sp>
      <p:sp>
        <p:nvSpPr>
          <p:cNvPr id="13" name="Text 11"/>
          <p:cNvSpPr/>
          <p:nvPr/>
        </p:nvSpPr>
        <p:spPr>
          <a:xfrm>
            <a:off x="411480" y="1033272"/>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Déploiement &amp; Intégration K8s</a:t>
            </a:r>
            <a:endParaRPr lang="en-US" sz="1000" dirty="0"/>
          </a:p>
        </p:txBody>
      </p:sp>
      <p:sp>
        <p:nvSpPr>
          <p:cNvPr id="14" name="Text 12"/>
          <p:cNvSpPr/>
          <p:nvPr/>
        </p:nvSpPr>
        <p:spPr>
          <a:xfrm>
            <a:off x="429768" y="1389888"/>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Opérateur Kubernetes via Helm chart (déploiement simplifié)</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Certifié Red Hat OpenShift 4.x (catalogue OperatorHub)</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MediaAgent déployable comme pod dans le cluster</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Support multi-cluster depuis une console unique (Command Center)</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RBAC natif, intégration LDAP/AD/SAML pour l'authentification</a:t>
            </a:r>
            <a:endParaRPr lang="en-US" sz="850" dirty="0"/>
          </a:p>
        </p:txBody>
      </p:sp>
      <p:sp>
        <p:nvSpPr>
          <p:cNvPr id="15" name="Shape 13"/>
          <p:cNvSpPr/>
          <p:nvPr/>
        </p:nvSpPr>
        <p:spPr>
          <a:xfrm>
            <a:off x="4754880" y="987552"/>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754880" y="987552"/>
            <a:ext cx="4206240" cy="347472"/>
          </a:xfrm>
          <a:prstGeom prst="rect">
            <a:avLst/>
          </a:prstGeom>
          <a:solidFill>
            <a:srgbClr val="1F6FEB"/>
          </a:solidFill>
          <a:ln w="12700">
            <a:solidFill>
              <a:srgbClr val="1F6FEB"/>
            </a:solidFill>
            <a:prstDash val="solid"/>
          </a:ln>
        </p:spPr>
      </p:sp>
      <p:sp>
        <p:nvSpPr>
          <p:cNvPr id="17" name="Text 15"/>
          <p:cNvSpPr/>
          <p:nvPr/>
        </p:nvSpPr>
        <p:spPr>
          <a:xfrm>
            <a:off x="4846320" y="1033272"/>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Capacités de sauvegarde</a:t>
            </a:r>
            <a:endParaRPr lang="en-US" sz="1000" dirty="0"/>
          </a:p>
        </p:txBody>
      </p:sp>
      <p:sp>
        <p:nvSpPr>
          <p:cNvPr id="18" name="Text 16"/>
          <p:cNvSpPr/>
          <p:nvPr/>
        </p:nvSpPr>
        <p:spPr>
          <a:xfrm>
            <a:off x="4864608" y="1389888"/>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Granularité : cluster, namespace, application, pod, PVC, fichier</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IntelliSnap : snapshots CSI (NetApp, Pure Storage, Dell EMC...)</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Sauvegarde incrémentale forever (CBT/CBR pour volumes persistants)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Hooks applicatifs pre/post pour cohérence (base de données, etc.)</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Live Sync : réplication quasi-temps-réel pour DR (RPO &lt; 15 min possible)</a:t>
            </a:r>
            <a:endParaRPr lang="en-US" sz="850" dirty="0"/>
          </a:p>
        </p:txBody>
      </p:sp>
      <p:sp>
        <p:nvSpPr>
          <p:cNvPr id="19" name="Shape 17"/>
          <p:cNvSpPr/>
          <p:nvPr/>
        </p:nvSpPr>
        <p:spPr>
          <a:xfrm>
            <a:off x="320040" y="2926080"/>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20040" y="2926080"/>
            <a:ext cx="4206240" cy="347472"/>
          </a:xfrm>
          <a:prstGeom prst="rect">
            <a:avLst/>
          </a:prstGeom>
          <a:solidFill>
            <a:srgbClr val="1A6B44"/>
          </a:solidFill>
          <a:ln w="12700">
            <a:solidFill>
              <a:srgbClr val="1A6B44"/>
            </a:solidFill>
            <a:prstDash val="solid"/>
          </a:ln>
        </p:spPr>
      </p:sp>
      <p:sp>
        <p:nvSpPr>
          <p:cNvPr id="21" name="Text 19"/>
          <p:cNvSpPr/>
          <p:nvPr/>
        </p:nvSpPr>
        <p:spPr>
          <a:xfrm>
            <a:off x="411480" y="2971800"/>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Intégration stockage LTO &amp; DD</a:t>
            </a:r>
            <a:endParaRPr lang="en-US" sz="1000" dirty="0"/>
          </a:p>
        </p:txBody>
      </p:sp>
      <p:sp>
        <p:nvSpPr>
          <p:cNvPr id="22" name="Text 20"/>
          <p:cNvSpPr/>
          <p:nvPr/>
        </p:nvSpPr>
        <p:spPr>
          <a:xfrm>
            <a:off x="429768" y="3328416"/>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DDBoost intégré nativement : déduplication distribuée, vérification inline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LTO via MediaAgent : support bibliothèques physiques et VTL</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Auxiliaire Copy automatique : DD → LTO selon règles de rétention</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WORM sur LTO avec cartouches WORM native + chiffrement matériel LTO-9</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Air-gap automatique : isolation réseau des sauvegardes sur bande</a:t>
            </a:r>
            <a:endParaRPr lang="en-US" sz="850" dirty="0"/>
          </a:p>
        </p:txBody>
      </p:sp>
      <p:sp>
        <p:nvSpPr>
          <p:cNvPr id="23" name="Shape 21"/>
          <p:cNvSpPr/>
          <p:nvPr/>
        </p:nvSpPr>
        <p:spPr>
          <a:xfrm>
            <a:off x="4754880" y="2926080"/>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754880" y="2926080"/>
            <a:ext cx="4206240" cy="347472"/>
          </a:xfrm>
          <a:prstGeom prst="rect">
            <a:avLst/>
          </a:prstGeom>
          <a:solidFill>
            <a:srgbClr val="D4720B"/>
          </a:solidFill>
          <a:ln w="12700">
            <a:solidFill>
              <a:srgbClr val="D4720B"/>
            </a:solidFill>
            <a:prstDash val="solid"/>
          </a:ln>
        </p:spPr>
      </p:sp>
      <p:sp>
        <p:nvSpPr>
          <p:cNvPr id="25" name="Text 23"/>
          <p:cNvSpPr/>
          <p:nvPr/>
        </p:nvSpPr>
        <p:spPr>
          <a:xfrm>
            <a:off x="4846320" y="2971800"/>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Compliance &amp; Reporting</a:t>
            </a:r>
            <a:endParaRPr lang="en-US" sz="1000" dirty="0"/>
          </a:p>
        </p:txBody>
      </p:sp>
      <p:sp>
        <p:nvSpPr>
          <p:cNvPr id="26" name="Text 24"/>
          <p:cNvSpPr/>
          <p:nvPr/>
        </p:nvSpPr>
        <p:spPr>
          <a:xfrm>
            <a:off x="4864608" y="3328416"/>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Metallic (SaaS) : option cloud disponible pour les copies hors-site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Compliance Lock : immuabilité des sauvegardes (anti-ransomware)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Rapports DORA prêts à l'emploi (rétention, chiffrement, tests restore)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Threat Scan : analyse malware des sauvegardes avant restauration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Commvault – Analyse Points Forts / Points Faibles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Évaluation objective basée sur les fonctionnalités produit et retours terrain</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8</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320040" y="960120"/>
            <a:ext cx="4160520" cy="3154680"/>
          </a:xfrm>
          <a:prstGeom prst="rect">
            <a:avLst/>
          </a:prstGeom>
          <a:solidFill>
            <a:srgbClr val="F0FAF4"/>
          </a:solidFill>
          <a:ln w="19050">
            <a:solidFill>
              <a:srgbClr val="1A7A4A"/>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960120"/>
            <a:ext cx="4160520" cy="365760"/>
          </a:xfrm>
          <a:prstGeom prst="rect">
            <a:avLst/>
          </a:prstGeom>
          <a:solidFill>
            <a:srgbClr val="1A7A4A"/>
          </a:solidFill>
          <a:ln w="12700">
            <a:solidFill>
              <a:srgbClr val="1A7A4A"/>
            </a:solidFill>
            <a:prstDash val="solid"/>
          </a:ln>
        </p:spPr>
      </p:sp>
      <p:sp>
        <p:nvSpPr>
          <p:cNvPr id="11" name="Text 9"/>
          <p:cNvSpPr/>
          <p:nvPr/>
        </p:nvSpPr>
        <p:spPr>
          <a:xfrm>
            <a:off x="411480" y="987552"/>
            <a:ext cx="39776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POINTS FORTS</a:t>
            </a:r>
            <a:endParaRPr lang="en-US" sz="1100" dirty="0"/>
          </a:p>
        </p:txBody>
      </p:sp>
      <p:sp>
        <p:nvSpPr>
          <p:cNvPr id="12" name="Text 10"/>
          <p:cNvSpPr/>
          <p:nvPr/>
        </p:nvSpPr>
        <p:spPr>
          <a:xfrm>
            <a:off x="457200" y="1389888"/>
            <a:ext cx="3931920" cy="2651760"/>
          </a:xfrm>
          <a:prstGeom prst="rect">
            <a:avLst/>
          </a:prstGeom>
          <a:noFill/>
          <a:ln/>
        </p:spPr>
        <p:txBody>
          <a:bodyPr wrap="square" lIns="0" tIns="0" rIns="0" bIns="0" rtlCol="0" anchor="ctr"/>
          <a:lstStyle/>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Interface Command Center moderne et intuitive : adoption rapide par les équipes</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Plateforme unifiée : backup VMs, physique, K8s, SaaS (M365, Salesforce) depuis une seule console</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IntelliSnap : intégration profonde avec les baies de stockage enterprise (délégation snapshot au storage)</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Compliance Lock natif : immuabilité WORM des sauvegardes sans matériel dédié</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Threat Scan : détection malware / ransomware dans les backups avant restauration</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Live Sync : DR actif-passif pour les applications critiques Kubernetes (faible RPO)</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Metallic (SaaS) : option cloud pour les copies offsite sans infrastructure supplémentaire</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Coût total maîtrisé : licences par capacité, options claires sans surprise</a:t>
            </a:r>
            <a:endParaRPr lang="en-US" sz="880" dirty="0"/>
          </a:p>
        </p:txBody>
      </p:sp>
      <p:sp>
        <p:nvSpPr>
          <p:cNvPr id="13" name="Shape 11"/>
          <p:cNvSpPr/>
          <p:nvPr/>
        </p:nvSpPr>
        <p:spPr>
          <a:xfrm>
            <a:off x="4709160" y="960120"/>
            <a:ext cx="4160520" cy="3154680"/>
          </a:xfrm>
          <a:prstGeom prst="rect">
            <a:avLst/>
          </a:prstGeom>
          <a:solidFill>
            <a:srgbClr val="FEF0F0"/>
          </a:solidFill>
          <a:ln w="19050">
            <a:solidFill>
              <a:srgbClr val="C0392B"/>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709160" y="960120"/>
            <a:ext cx="4160520" cy="365760"/>
          </a:xfrm>
          <a:prstGeom prst="rect">
            <a:avLst/>
          </a:prstGeom>
          <a:solidFill>
            <a:srgbClr val="C0392B"/>
          </a:solidFill>
          <a:ln w="12700">
            <a:solidFill>
              <a:srgbClr val="C0392B"/>
            </a:solidFill>
            <a:prstDash val="solid"/>
          </a:ln>
        </p:spPr>
      </p:sp>
      <p:sp>
        <p:nvSpPr>
          <p:cNvPr id="15" name="Text 13"/>
          <p:cNvSpPr/>
          <p:nvPr/>
        </p:nvSpPr>
        <p:spPr>
          <a:xfrm>
            <a:off x="4800600" y="987552"/>
            <a:ext cx="39776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POINTS FAIBLES</a:t>
            </a:r>
            <a:endParaRPr lang="en-US" sz="1100" dirty="0"/>
          </a:p>
        </p:txBody>
      </p:sp>
      <p:sp>
        <p:nvSpPr>
          <p:cNvPr id="16" name="Text 14"/>
          <p:cNvSpPr/>
          <p:nvPr/>
        </p:nvSpPr>
        <p:spPr>
          <a:xfrm>
            <a:off x="4846320" y="1389888"/>
            <a:ext cx="3931920" cy="2651760"/>
          </a:xfrm>
          <a:prstGeom prst="rect">
            <a:avLst/>
          </a:prstGeom>
          <a:noFill/>
          <a:ln/>
        </p:spPr>
        <p:txBody>
          <a:bodyPr wrap="square" lIns="0" tIns="0" rIns="0" bIns="0" rtlCol="0" anchor="ctr"/>
          <a:lstStyle/>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Architecture complexe : CommServe (serveur central), MediaAgents, clients → nombreux composants à maintenir</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Footprint ressource : MediaAgent dans le cluster consomme des ressources non négligeables</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Support K8s moins mature que Portworx : ajouts progressifs, certaines fonctionnalités avancées encore limitées</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Licensing complexe : multiplication des modules optionnels (IntelliSnap, LiveSync, Threat Scan) → coût difficile à anticiper</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Intégration LTO via MediaAgent uniquement : pas de support bibliothèque LTO directement dans le cluster K8s</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Délai de restauration granulaire (fichier) : plus lent que les solutions snapshots natives pour les PVCs larges</a:t>
            </a:r>
            <a:endParaRPr lang="en-US" sz="880" dirty="0"/>
          </a:p>
        </p:txBody>
      </p:sp>
      <p:sp>
        <p:nvSpPr>
          <p:cNvPr id="17" name="Shape 15"/>
          <p:cNvSpPr/>
          <p:nvPr/>
        </p:nvSpPr>
        <p:spPr>
          <a:xfrm>
            <a:off x="320040" y="4206240"/>
            <a:ext cx="8549640" cy="59436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457200" y="4251960"/>
            <a:ext cx="8321040" cy="502920"/>
          </a:xfrm>
          <a:prstGeom prst="rect">
            <a:avLst/>
          </a:prstGeom>
          <a:noFill/>
          <a:ln/>
        </p:spPr>
        <p:txBody>
          <a:bodyPr wrap="square" lIns="0" tIns="0" rIns="0" bIns="0" rtlCol="0" anchor="ctr"/>
          <a:lstStyle/>
          <a:p>
            <a:pPr indent="0" marL="0">
              <a:buNone/>
            </a:pPr>
            <a:r>
              <a:rPr lang="en-US" sz="900" i="1" dirty="0">
                <a:solidFill>
                  <a:srgbClr val="1A2040"/>
                </a:solidFill>
                <a:latin typeface="Calibri" pitchFamily="34" charset="0"/>
                <a:ea typeface="Calibri" pitchFamily="34" charset="-122"/>
                <a:cs typeface="Calibri" pitchFamily="34" charset="-120"/>
              </a:rPr>
              <a:t>Positionnement : Solution polyvalente idéale pour les DSI souhaitant une plateforme unifiée couvrant l'ensemble des workloads (K8s, VMs, physique, SaaS). Excellent équilibre fonctionnalités / complexité.</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Portworx PX-Backup (Pure Storage)</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Solution cloud-native Kubernetes-first – Backup &amp; DR orientés conteneurs</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9</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274320" y="914400"/>
            <a:ext cx="1645920" cy="411480"/>
          </a:xfrm>
          <a:prstGeom prst="rect">
            <a:avLst/>
          </a:prstGeom>
          <a:solidFill>
            <a:srgbClr val="7B2FBE"/>
          </a:solidFill>
          <a:ln w="12700">
            <a:solidFill>
              <a:srgbClr val="7B2FBE"/>
            </a:solidFill>
            <a:prstDash val="solid"/>
          </a:ln>
        </p:spPr>
      </p:sp>
      <p:sp>
        <p:nvSpPr>
          <p:cNvPr id="10" name="Text 8"/>
          <p:cNvSpPr/>
          <p:nvPr/>
        </p:nvSpPr>
        <p:spPr>
          <a:xfrm>
            <a:off x="274320" y="914400"/>
            <a:ext cx="16459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PORTWORX</a:t>
            </a:r>
            <a:endParaRPr lang="en-US" sz="1100" dirty="0"/>
          </a:p>
        </p:txBody>
      </p:sp>
      <p:sp>
        <p:nvSpPr>
          <p:cNvPr id="11" name="Shape 9"/>
          <p:cNvSpPr/>
          <p:nvPr/>
        </p:nvSpPr>
        <p:spPr>
          <a:xfrm>
            <a:off x="320040" y="987552"/>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987552"/>
            <a:ext cx="4206240" cy="347472"/>
          </a:xfrm>
          <a:prstGeom prst="rect">
            <a:avLst/>
          </a:prstGeom>
          <a:solidFill>
            <a:srgbClr val="7B2FBE"/>
          </a:solidFill>
          <a:ln w="12700">
            <a:solidFill>
              <a:srgbClr val="7B2FBE"/>
            </a:solidFill>
            <a:prstDash val="solid"/>
          </a:ln>
        </p:spPr>
      </p:sp>
      <p:sp>
        <p:nvSpPr>
          <p:cNvPr id="13" name="Text 11"/>
          <p:cNvSpPr/>
          <p:nvPr/>
        </p:nvSpPr>
        <p:spPr>
          <a:xfrm>
            <a:off x="411480" y="1033272"/>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Déploiement &amp; Intégration K8s</a:t>
            </a:r>
            <a:endParaRPr lang="en-US" sz="1000" dirty="0"/>
          </a:p>
        </p:txBody>
      </p:sp>
      <p:sp>
        <p:nvSpPr>
          <p:cNvPr id="14" name="Text 12"/>
          <p:cNvSpPr/>
          <p:nvPr/>
        </p:nvSpPr>
        <p:spPr>
          <a:xfrm>
            <a:off x="429768" y="1389888"/>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Architecture 100% Kubernetes-native : déployé entièrement comme pods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PX-Central : console de gestion multi-cluster cloud-native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OpenShift certifié, intégration OperatorHub</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Stockage distribué Portworx Enterprise : CSI driver pour PVCs haute disponibilité</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Intégration Stork (Storage Operator for Kubernetes) : scheduler amélioré</a:t>
            </a:r>
            <a:endParaRPr lang="en-US" sz="850" dirty="0"/>
          </a:p>
        </p:txBody>
      </p:sp>
      <p:sp>
        <p:nvSpPr>
          <p:cNvPr id="15" name="Shape 13"/>
          <p:cNvSpPr/>
          <p:nvPr/>
        </p:nvSpPr>
        <p:spPr>
          <a:xfrm>
            <a:off x="4754880" y="987552"/>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754880" y="987552"/>
            <a:ext cx="4206240" cy="347472"/>
          </a:xfrm>
          <a:prstGeom prst="rect">
            <a:avLst/>
          </a:prstGeom>
          <a:solidFill>
            <a:srgbClr val="7B2FBE"/>
          </a:solidFill>
          <a:ln w="12700">
            <a:solidFill>
              <a:srgbClr val="7B2FBE"/>
            </a:solidFill>
            <a:prstDash val="solid"/>
          </a:ln>
        </p:spPr>
      </p:sp>
      <p:sp>
        <p:nvSpPr>
          <p:cNvPr id="17" name="Text 15"/>
          <p:cNvSpPr/>
          <p:nvPr/>
        </p:nvSpPr>
        <p:spPr>
          <a:xfrm>
            <a:off x="4846320" y="1033272"/>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Capacités de sauvegarde</a:t>
            </a:r>
            <a:endParaRPr lang="en-US" sz="1000" dirty="0"/>
          </a:p>
        </p:txBody>
      </p:sp>
      <p:sp>
        <p:nvSpPr>
          <p:cNvPr id="18" name="Text 16"/>
          <p:cNvSpPr/>
          <p:nvPr/>
        </p:nvSpPr>
        <p:spPr>
          <a:xfrm>
            <a:off x="4864608" y="1389888"/>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PX-Backup : backup namespace/application avec cohérence 3DSnap</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AsyncDR : réplication asynchrone inter-cluster pour disaster recovery</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Granularité : namespace, application, PVC individuel</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Hooks pre/post configurables (scripts de quiescence applicative)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Intégration Velero : compatible avec l'écosystème open-source</a:t>
            </a:r>
            <a:endParaRPr lang="en-US" sz="850" dirty="0"/>
          </a:p>
        </p:txBody>
      </p:sp>
      <p:sp>
        <p:nvSpPr>
          <p:cNvPr id="19" name="Shape 17"/>
          <p:cNvSpPr/>
          <p:nvPr/>
        </p:nvSpPr>
        <p:spPr>
          <a:xfrm>
            <a:off x="320040" y="2926080"/>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20040" y="2926080"/>
            <a:ext cx="4206240" cy="347472"/>
          </a:xfrm>
          <a:prstGeom prst="rect">
            <a:avLst/>
          </a:prstGeom>
          <a:solidFill>
            <a:srgbClr val="D4720B"/>
          </a:solidFill>
          <a:ln w="12700">
            <a:solidFill>
              <a:srgbClr val="D4720B"/>
            </a:solidFill>
            <a:prstDash val="solid"/>
          </a:ln>
        </p:spPr>
      </p:sp>
      <p:sp>
        <p:nvSpPr>
          <p:cNvPr id="21" name="Text 19"/>
          <p:cNvSpPr/>
          <p:nvPr/>
        </p:nvSpPr>
        <p:spPr>
          <a:xfrm>
            <a:off x="411480" y="2971800"/>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Intégration stockage</a:t>
            </a:r>
            <a:endParaRPr lang="en-US" sz="1000" dirty="0"/>
          </a:p>
        </p:txBody>
      </p:sp>
      <p:sp>
        <p:nvSpPr>
          <p:cNvPr id="22" name="Text 20"/>
          <p:cNvSpPr/>
          <p:nvPr/>
        </p:nvSpPr>
        <p:spPr>
          <a:xfrm>
            <a:off x="429768" y="3328416"/>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Cible backup native : S3 compatible (MinIO, AWS S3, Azure Blob, GCS)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NFS/CIFS : possible pour les cibles on-premise dont Data Domain (via NFS)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Data Domain : intégration via protocole NFS/CIFS (SANS DDBoost natif)</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LTO : NON supporté nativement – nécessite passerelle VTL ou solution tierce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Recommandation LTO : pipeline externe (ex: Veeam, script) requis pour tiering LTO</a:t>
            </a:r>
            <a:endParaRPr lang="en-US" sz="850" dirty="0"/>
          </a:p>
        </p:txBody>
      </p:sp>
      <p:sp>
        <p:nvSpPr>
          <p:cNvPr id="23" name="Shape 21"/>
          <p:cNvSpPr/>
          <p:nvPr/>
        </p:nvSpPr>
        <p:spPr>
          <a:xfrm>
            <a:off x="4754880" y="2926080"/>
            <a:ext cx="4206240" cy="1801368"/>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754880" y="2926080"/>
            <a:ext cx="4206240" cy="347472"/>
          </a:xfrm>
          <a:prstGeom prst="rect">
            <a:avLst/>
          </a:prstGeom>
          <a:solidFill>
            <a:srgbClr val="1A6B44"/>
          </a:solidFill>
          <a:ln w="12700">
            <a:solidFill>
              <a:srgbClr val="1A6B44"/>
            </a:solidFill>
            <a:prstDash val="solid"/>
          </a:ln>
        </p:spPr>
      </p:sp>
      <p:sp>
        <p:nvSpPr>
          <p:cNvPr id="25" name="Text 23"/>
          <p:cNvSpPr/>
          <p:nvPr/>
        </p:nvSpPr>
        <p:spPr>
          <a:xfrm>
            <a:off x="4846320" y="2971800"/>
            <a:ext cx="402336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Points de différenciation</a:t>
            </a:r>
            <a:endParaRPr lang="en-US" sz="1000" dirty="0"/>
          </a:p>
        </p:txBody>
      </p:sp>
      <p:sp>
        <p:nvSpPr>
          <p:cNvPr id="26" name="Text 24"/>
          <p:cNvSpPr/>
          <p:nvPr/>
        </p:nvSpPr>
        <p:spPr>
          <a:xfrm>
            <a:off x="4864608" y="3328416"/>
            <a:ext cx="4005072" cy="1344168"/>
          </a:xfrm>
          <a:prstGeom prst="rect">
            <a:avLst/>
          </a:prstGeom>
          <a:noFill/>
          <a:ln/>
        </p:spPr>
        <p:txBody>
          <a:bodyPr wrap="square" lIns="0" tIns="0" rIns="0" bIns="0" rtlCol="0" anchor="ctr"/>
          <a:lstStyle/>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Autopilot : gestion automatique des règles de rétention basée sur les politiques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PX-DR : RPO quasi-nul pour les applications stateful (réplication synchrone)</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Intégration ArgoCD / Flux : GitOps-native pour les restaurations déclaratives</a:t>
            </a:r>
            <a:endParaRPr lang="en-US" sz="850" dirty="0"/>
          </a:p>
          <a:p>
            <a:pPr marL="342900" indent="-342900">
              <a:buSzPct val="100000"/>
              <a:buChar char="•"/>
            </a:pPr>
            <a:r>
              <a:rPr lang="en-US" sz="850" dirty="0">
                <a:solidFill>
                  <a:srgbClr val="1A2040"/>
                </a:solidFill>
                <a:latin typeface="Calibri" pitchFamily="34" charset="0"/>
                <a:ea typeface="Calibri" pitchFamily="34" charset="-122"/>
                <a:cs typeface="Calibri" pitchFamily="34" charset="-120"/>
              </a:rPr>
              <a:t>Encryption per-volume : chiffrement granulaire au niveau volume (clés par namespace)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Portworx PX-Backup – Analyse Points Forts / Points Faibles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Évaluation objective basée sur les fonctionnalités produit et retours terrain</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10</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320040" y="960120"/>
            <a:ext cx="4160520" cy="3154680"/>
          </a:xfrm>
          <a:prstGeom prst="rect">
            <a:avLst/>
          </a:prstGeom>
          <a:solidFill>
            <a:srgbClr val="F0FAF4"/>
          </a:solidFill>
          <a:ln w="19050">
            <a:solidFill>
              <a:srgbClr val="1A7A4A"/>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960120"/>
            <a:ext cx="4160520" cy="365760"/>
          </a:xfrm>
          <a:prstGeom prst="rect">
            <a:avLst/>
          </a:prstGeom>
          <a:solidFill>
            <a:srgbClr val="1A7A4A"/>
          </a:solidFill>
          <a:ln w="12700">
            <a:solidFill>
              <a:srgbClr val="1A7A4A"/>
            </a:solidFill>
            <a:prstDash val="solid"/>
          </a:ln>
        </p:spPr>
      </p:sp>
      <p:sp>
        <p:nvSpPr>
          <p:cNvPr id="11" name="Text 9"/>
          <p:cNvSpPr/>
          <p:nvPr/>
        </p:nvSpPr>
        <p:spPr>
          <a:xfrm>
            <a:off x="411480" y="987552"/>
            <a:ext cx="39776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POINTS FORTS</a:t>
            </a:r>
            <a:endParaRPr lang="en-US" sz="1100" dirty="0"/>
          </a:p>
        </p:txBody>
      </p:sp>
      <p:sp>
        <p:nvSpPr>
          <p:cNvPr id="12" name="Text 10"/>
          <p:cNvSpPr/>
          <p:nvPr/>
        </p:nvSpPr>
        <p:spPr>
          <a:xfrm>
            <a:off x="457200" y="1389888"/>
            <a:ext cx="3931920" cy="2651760"/>
          </a:xfrm>
          <a:prstGeom prst="rect">
            <a:avLst/>
          </a:prstGeom>
          <a:noFill/>
          <a:ln/>
        </p:spPr>
        <p:txBody>
          <a:bodyPr wrap="square" lIns="0" tIns="0" rIns="0" bIns="0" rtlCol="0" anchor="ctr"/>
          <a:lstStyle/>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Architecture cloud-native pure : aucun agent lourd, déploiement comme tout workload K8s</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3DSnap : cohérence applicative au niveau stockage distribué sans agent dans les pods</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RPO très faible : PX-DR permet une réplication quasi-synchrone pour le DR inter-cluster</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Flexibilité des cibles : tout objet store S3 compatible (cloud ou on-prem) sans restriction</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Intégration GitOps : restauration déclarative via ArgoCD/Flux (Infrastructure as Code)</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PX-Central : gestion multi-cluster simple, tableau de bord opérationnel clair</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Orientation DevOps : API-first, très populaire auprès des équipes containers modernes</a:t>
            </a:r>
            <a:endParaRPr lang="en-US" sz="880" dirty="0"/>
          </a:p>
          <a:p>
            <a:pPr marL="342900" indent="-342900">
              <a:buSzPct val="100000"/>
              <a:buChar char="•"/>
            </a:pPr>
            <a:r>
              <a:rPr lang="en-US" sz="880" dirty="0">
                <a:solidFill>
                  <a:srgbClr val="1A3A28"/>
                </a:solidFill>
                <a:latin typeface="Calibri" pitchFamily="34" charset="0"/>
                <a:ea typeface="Calibri" pitchFamily="34" charset="-122"/>
                <a:cs typeface="Calibri" pitchFamily="34" charset="-120"/>
              </a:rPr>
              <a:t>Chiffrement granulaire : par volume et par namespace (conformité DORA segmentation)</a:t>
            </a:r>
            <a:endParaRPr lang="en-US" sz="880" dirty="0"/>
          </a:p>
        </p:txBody>
      </p:sp>
      <p:sp>
        <p:nvSpPr>
          <p:cNvPr id="13" name="Shape 11"/>
          <p:cNvSpPr/>
          <p:nvPr/>
        </p:nvSpPr>
        <p:spPr>
          <a:xfrm>
            <a:off x="4709160" y="960120"/>
            <a:ext cx="4160520" cy="3154680"/>
          </a:xfrm>
          <a:prstGeom prst="rect">
            <a:avLst/>
          </a:prstGeom>
          <a:solidFill>
            <a:srgbClr val="FEF0F0"/>
          </a:solidFill>
          <a:ln w="19050">
            <a:solidFill>
              <a:srgbClr val="C0392B"/>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709160" y="960120"/>
            <a:ext cx="4160520" cy="365760"/>
          </a:xfrm>
          <a:prstGeom prst="rect">
            <a:avLst/>
          </a:prstGeom>
          <a:solidFill>
            <a:srgbClr val="C0392B"/>
          </a:solidFill>
          <a:ln w="12700">
            <a:solidFill>
              <a:srgbClr val="C0392B"/>
            </a:solidFill>
            <a:prstDash val="solid"/>
          </a:ln>
        </p:spPr>
      </p:sp>
      <p:sp>
        <p:nvSpPr>
          <p:cNvPr id="15" name="Text 13"/>
          <p:cNvSpPr/>
          <p:nvPr/>
        </p:nvSpPr>
        <p:spPr>
          <a:xfrm>
            <a:off x="4800600" y="987552"/>
            <a:ext cx="39776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POINTS FAIBLES</a:t>
            </a:r>
            <a:endParaRPr lang="en-US" sz="1100" dirty="0"/>
          </a:p>
        </p:txBody>
      </p:sp>
      <p:sp>
        <p:nvSpPr>
          <p:cNvPr id="16" name="Text 14"/>
          <p:cNvSpPr/>
          <p:nvPr/>
        </p:nvSpPr>
        <p:spPr>
          <a:xfrm>
            <a:off x="4846320" y="1389888"/>
            <a:ext cx="3931920" cy="2651760"/>
          </a:xfrm>
          <a:prstGeom prst="rect">
            <a:avLst/>
          </a:prstGeom>
          <a:noFill/>
          <a:ln/>
        </p:spPr>
        <p:txBody>
          <a:bodyPr wrap="square" lIns="0" tIns="0" rIns="0" bIns="0" rtlCol="0" anchor="ctr"/>
          <a:lstStyle/>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 LTO non supporté nativement : limitation majeure pour les rétentions 10 ans. Nécessite une architecture tierce complexe (VTL + gateway + scripts)</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 Data Domain sans DDBoost : intégration via NFS uniquement, perte des optimisations de déduplication distribuée (impact réseau et stockage)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Couplage fort Portworx Storage : PX-Backup optimal uniquement avec Portworx Enterprise comme couche storage (vendor lock-in Pure Storage)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Immaturité compliance enterprise : rapports DORA moins riches que NetBackup ou Commvault, personnalisation limitée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Support LTO bande : absent du roadmap officiel (focus 100% cloud/objet store)</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Périmètre K8s uniquement : ne couvre pas les VMs, physique ou workloads legacy</a:t>
            </a:r>
            <a:endParaRPr lang="en-US" sz="880" dirty="0"/>
          </a:p>
          <a:p>
            <a:pPr marL="342900" indent="-342900">
              <a:buSzPct val="100000"/>
              <a:buChar char="•"/>
            </a:pPr>
            <a:r>
              <a:rPr lang="en-US" sz="880" dirty="0">
                <a:solidFill>
                  <a:srgbClr val="4A1515"/>
                </a:solidFill>
                <a:latin typeface="Calibri" pitchFamily="34" charset="0"/>
                <a:ea typeface="Calibri" pitchFamily="34" charset="-122"/>
                <a:cs typeface="Calibri" pitchFamily="34" charset="-120"/>
              </a:rPr>
              <a:t>Restauration granulaire limitée : restauration fichier à l'intérieur d'un PVC moins bien gérée que les solutions enterprise</a:t>
            </a:r>
            <a:endParaRPr lang="en-US" sz="880" dirty="0"/>
          </a:p>
        </p:txBody>
      </p:sp>
      <p:sp>
        <p:nvSpPr>
          <p:cNvPr id="17" name="Shape 15"/>
          <p:cNvSpPr/>
          <p:nvPr/>
        </p:nvSpPr>
        <p:spPr>
          <a:xfrm>
            <a:off x="320040" y="4206240"/>
            <a:ext cx="8549640" cy="594360"/>
          </a:xfrm>
          <a:prstGeom prst="rect">
            <a:avLst/>
          </a:prstGeom>
          <a:solidFill>
            <a:srgbClr val="FFF8E7"/>
          </a:solidFill>
          <a:ln w="19050">
            <a:solidFill>
              <a:srgbClr val="F5A623"/>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457200" y="4251960"/>
            <a:ext cx="8321040" cy="502920"/>
          </a:xfrm>
          <a:prstGeom prst="rect">
            <a:avLst/>
          </a:prstGeom>
          <a:noFill/>
          <a:ln/>
        </p:spPr>
        <p:txBody>
          <a:bodyPr wrap="square" lIns="0" tIns="0" rIns="0" bIns="0" rtlCol="0" anchor="ctr"/>
          <a:lstStyle/>
          <a:p>
            <a:pPr indent="0" marL="0">
              <a:buNone/>
            </a:pPr>
            <a:r>
              <a:rPr lang="en-US" sz="900" b="1" dirty="0">
                <a:solidFill>
                  <a:srgbClr val="D4720B"/>
                </a:solidFill>
                <a:latin typeface="Calibri" pitchFamily="34" charset="0"/>
                <a:ea typeface="Calibri" pitchFamily="34" charset="-122"/>
                <a:cs typeface="Calibri" pitchFamily="34" charset="-120"/>
              </a:rPr>
              <a:t>⚠ Attention : L'absence de support natif LTO est un point bloquant dans le contexte de cette étude (rétention 10 ans DORA). Portworx peut être retenu uniquement si une solution complémentaire de tiering LTO est mise en place.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Analyse Comparative – Matrice de fonctionnalités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Évaluation sur les critères clés pour un environnement OpenShift enterprise</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11</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Text 7"/>
          <p:cNvSpPr/>
          <p:nvPr/>
        </p:nvSpPr>
        <p:spPr>
          <a:xfrm>
            <a:off x="320040" y="914400"/>
            <a:ext cx="1097280" cy="228600"/>
          </a:xfrm>
          <a:prstGeom prst="rect">
            <a:avLst/>
          </a:prstGeom>
          <a:noFill/>
          <a:ln/>
        </p:spPr>
        <p:txBody>
          <a:bodyPr wrap="square" lIns="0" tIns="0" rIns="0" bIns="0" rtlCol="0" anchor="ctr"/>
          <a:lstStyle/>
          <a:p>
            <a:pPr indent="0" marL="0">
              <a:buNone/>
            </a:pPr>
            <a:r>
              <a:rPr lang="en-US" sz="850" b="1" dirty="0">
                <a:solidFill>
                  <a:srgbClr val="1A2040"/>
                </a:solidFill>
                <a:latin typeface="Calibri" pitchFamily="34" charset="0"/>
                <a:ea typeface="Calibri" pitchFamily="34" charset="-122"/>
                <a:cs typeface="Calibri" pitchFamily="34" charset="-120"/>
              </a:rPr>
              <a:t>Légende :</a:t>
            </a:r>
            <a:endParaRPr lang="en-US" sz="850" dirty="0"/>
          </a:p>
        </p:txBody>
      </p:sp>
      <p:sp>
        <p:nvSpPr>
          <p:cNvPr id="10" name="Text 8"/>
          <p:cNvSpPr/>
          <p:nvPr/>
        </p:nvSpPr>
        <p:spPr>
          <a:xfrm>
            <a:off x="1463040" y="914400"/>
            <a:ext cx="1463040" cy="228600"/>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 Excellent</a:t>
            </a:r>
            <a:endParaRPr lang="en-US" sz="850" dirty="0"/>
          </a:p>
        </p:txBody>
      </p:sp>
      <p:sp>
        <p:nvSpPr>
          <p:cNvPr id="11" name="Text 9"/>
          <p:cNvSpPr/>
          <p:nvPr/>
        </p:nvSpPr>
        <p:spPr>
          <a:xfrm>
            <a:off x="3017520" y="914400"/>
            <a:ext cx="1463040" cy="228600"/>
          </a:xfrm>
          <a:prstGeom prst="rect">
            <a:avLst/>
          </a:prstGeom>
          <a:noFill/>
          <a:ln/>
        </p:spPr>
        <p:txBody>
          <a:bodyPr wrap="square" lIns="0" tIns="0" rIns="0" bIns="0" rtlCol="0" anchor="ctr"/>
          <a:lstStyle/>
          <a:p>
            <a:pPr indent="0" marL="0">
              <a:buNone/>
            </a:pPr>
            <a:r>
              <a:rPr lang="en-US" sz="850" b="1" dirty="0">
                <a:solidFill>
                  <a:srgbClr val="2E5FD9"/>
                </a:solidFill>
                <a:latin typeface="Calibri" pitchFamily="34" charset="0"/>
                <a:ea typeface="Calibri" pitchFamily="34" charset="-122"/>
                <a:cs typeface="Calibri" pitchFamily="34" charset="-120"/>
              </a:rPr>
              <a:t>●●○ Bon</a:t>
            </a:r>
            <a:endParaRPr lang="en-US" sz="850" dirty="0"/>
          </a:p>
        </p:txBody>
      </p:sp>
      <p:sp>
        <p:nvSpPr>
          <p:cNvPr id="12" name="Text 10"/>
          <p:cNvSpPr/>
          <p:nvPr/>
        </p:nvSpPr>
        <p:spPr>
          <a:xfrm>
            <a:off x="4572000" y="914400"/>
            <a:ext cx="1463040" cy="228600"/>
          </a:xfrm>
          <a:prstGeom prst="rect">
            <a:avLst/>
          </a:prstGeom>
          <a:noFill/>
          <a:ln/>
        </p:spPr>
        <p:txBody>
          <a:bodyPr wrap="square" lIns="0" tIns="0" rIns="0" bIns="0" rtlCol="0" anchor="ctr"/>
          <a:lstStyle/>
          <a:p>
            <a:pPr indent="0" marL="0">
              <a:buNone/>
            </a:pPr>
            <a:r>
              <a:rPr lang="en-US" sz="850" b="1" dirty="0">
                <a:solidFill>
                  <a:srgbClr val="D4720B"/>
                </a:solidFill>
                <a:latin typeface="Calibri" pitchFamily="34" charset="0"/>
                <a:ea typeface="Calibri" pitchFamily="34" charset="-122"/>
                <a:cs typeface="Calibri" pitchFamily="34" charset="-120"/>
              </a:rPr>
              <a:t>●○○ Partiel</a:t>
            </a:r>
            <a:endParaRPr lang="en-US" sz="850" dirty="0"/>
          </a:p>
        </p:txBody>
      </p:sp>
      <p:sp>
        <p:nvSpPr>
          <p:cNvPr id="13" name="Text 11"/>
          <p:cNvSpPr/>
          <p:nvPr/>
        </p:nvSpPr>
        <p:spPr>
          <a:xfrm>
            <a:off x="6126480" y="914400"/>
            <a:ext cx="1463040" cy="228600"/>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 Non supporté</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4114800"/>
                <a:gridCol w="1463040"/>
                <a:gridCol w="1463040"/>
                <a:gridCol w="1463040"/>
              </a:tblGrid>
              <a:tr h="18745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Critère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NetBackup</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066CC"/>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Commvault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1F6FE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Portworx</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7B2FBE"/>
                    </a:solidFill>
                  </a:tcPr>
                </a:tc>
              </a:tr>
              <a:tr h="18745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Intégration Kubernetes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Support OpenShift certifié</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Opérateur natif K8s (CRD)</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RBAC granulaire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Multi-cluster management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Capacités Backup</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Granularité namespace/PVC/fichier</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Cohérence applicative (hooks)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Snapshots CSI</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Incrémentale block-level (CBT)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Restauration granulaire (fichier)</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D4720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Intégration Stockage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Data Domain (DDBoost natif)</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D4720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LTO (support natif)</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C0392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LTO WORM (immuabilité bande)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C0392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S3 compatible (object store)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Tiering automatique (SLP/policy)</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D4720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Conformité &amp; Sécurité</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3A4A70"/>
                    </a:solidFill>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Chiffrement AES-256 (transit+repos)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Immuabilité WORM</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Audit log complet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Rapports compliance DORA</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D4720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r h="187452">
                <a:tc>
                  <a:txBody>
                    <a:bodyPr/>
                    <a:lstStyle/>
                    <a:p>
                      <a:pPr algn="l" indent="0" marL="0">
                        <a:buNone/>
                      </a:pPr>
                      <a:r>
                        <a:rPr lang="en-US" sz="850" dirty="0">
                          <a:solidFill>
                            <a:srgbClr val="1A2040"/>
                          </a:solidFill>
                          <a:latin typeface="Calibri" pitchFamily="34" charset="0"/>
                          <a:ea typeface="Calibri" pitchFamily="34" charset="-122"/>
                          <a:cs typeface="Calibri" pitchFamily="34" charset="-120"/>
                        </a:rPr>
                        <a:t>Analyse malware des backups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2E5FD9"/>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1A7A4A"/>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c>
                  <a:txBody>
                    <a:bodyPr/>
                    <a:lstStyle/>
                    <a:p>
                      <a:pPr algn="ctr" indent="0" marL="0">
                        <a:buNone/>
                      </a:pPr>
                      <a:r>
                        <a:rPr lang="en-US" sz="850" b="1" dirty="0">
                          <a:solidFill>
                            <a:srgbClr val="D4720B"/>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Scoring Comparatif – Note globale pondérée</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Pondération basée sur les exigences DORA et les besoins opérationnels</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12</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Text 7"/>
          <p:cNvSpPr/>
          <p:nvPr/>
        </p:nvSpPr>
        <p:spPr>
          <a:xfrm>
            <a:off x="320040" y="960120"/>
            <a:ext cx="8229600" cy="256032"/>
          </a:xfrm>
          <a:prstGeom prst="rect">
            <a:avLst/>
          </a:prstGeom>
          <a:noFill/>
          <a:ln/>
        </p:spPr>
        <p:txBody>
          <a:bodyPr wrap="square" lIns="0" tIns="0" rIns="0" bIns="0" rtlCol="0" anchor="ctr"/>
          <a:lstStyle/>
          <a:p>
            <a:pPr indent="0" marL="0">
              <a:buNone/>
            </a:pPr>
            <a:r>
              <a:rPr lang="en-US" sz="950" i="1" dirty="0">
                <a:solidFill>
                  <a:srgbClr val="5C6680"/>
                </a:solidFill>
                <a:latin typeface="Calibri" pitchFamily="34" charset="0"/>
                <a:ea typeface="Calibri" pitchFamily="34" charset="-122"/>
                <a:cs typeface="Calibri" pitchFamily="34" charset="-120"/>
              </a:rPr>
              <a:t>Méthodologie : Note sur 10 par critère × Poids. Score final /10.</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261872"/>
          <a:ext cx="8503920" cy="3291840"/>
        </p:xfrm>
        <a:graphic>
          <a:graphicData uri="http://schemas.openxmlformats.org/drawingml/2006/table">
            <a:tbl>
              <a:tblPr/>
              <a:tblGrid>
                <a:gridCol w="3200400"/>
                <a:gridCol w="914400"/>
                <a:gridCol w="1463040"/>
                <a:gridCol w="1463040"/>
                <a:gridCol w="146304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Critère d'évaluation</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Poids (%)</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NetBackup</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066C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Commvault</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1F6FE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Portworx</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7B2FBE"/>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Support OpenShift natif</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Intégration LTO (rétention 10 ans)</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10/10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C0392B"/>
                          </a:solidFill>
                          <a:latin typeface="Calibri" pitchFamily="34" charset="0"/>
                          <a:ea typeface="Calibri" pitchFamily="34" charset="-122"/>
                          <a:cs typeface="Calibri" pitchFamily="34" charset="-120"/>
                        </a:rPr>
                        <a:t>2/10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Intégration Data Domain (DDBoost)</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10/10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10/10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Calibri" pitchFamily="34" charset="0"/>
                          <a:ea typeface="Calibri" pitchFamily="34" charset="-122"/>
                          <a:cs typeface="Calibri" pitchFamily="34" charset="-120"/>
                        </a:rPr>
                        <a:t>4/10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Granularité backup/restore K8s</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2E5FD9"/>
                          </a:solidFill>
                          <a:latin typeface="Calibri" pitchFamily="34" charset="0"/>
                          <a:ea typeface="Calibri" pitchFamily="34" charset="-122"/>
                          <a:cs typeface="Calibri" pitchFamily="34" charset="-120"/>
                        </a:rPr>
                        <a:t>7/10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Conformité DORA &amp; Compliance</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E5FD9"/>
                          </a:solidFill>
                          <a:latin typeface="Calibri" pitchFamily="34" charset="0"/>
                          <a:ea typeface="Calibri" pitchFamily="34" charset="-122"/>
                          <a:cs typeface="Calibri" pitchFamily="34" charset="-120"/>
                        </a:rPr>
                        <a:t>6/10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Sécurité (WORM, chiffrement, audit)</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10/10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2E5FD9"/>
                          </a:solidFill>
                          <a:latin typeface="Calibri" pitchFamily="34" charset="0"/>
                          <a:ea typeface="Calibri" pitchFamily="34" charset="-122"/>
                          <a:cs typeface="Calibri" pitchFamily="34" charset="-120"/>
                        </a:rPr>
                        <a:t>7/10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Simplicité déploiement &amp; ops</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392B"/>
                          </a:solidFill>
                          <a:latin typeface="Calibri" pitchFamily="34" charset="0"/>
                          <a:ea typeface="Calibri" pitchFamily="34" charset="-122"/>
                          <a:cs typeface="Calibri" pitchFamily="34" charset="-120"/>
                        </a:rPr>
                        <a:t>5/10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E5FD9"/>
                          </a:solidFill>
                          <a:latin typeface="Calibri" pitchFamily="34" charset="0"/>
                          <a:ea typeface="Calibri" pitchFamily="34" charset="-122"/>
                          <a:cs typeface="Calibri" pitchFamily="34" charset="-120"/>
                        </a:rPr>
                        <a:t>7/10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65176">
                <a:tc>
                  <a:txBody>
                    <a:bodyPr/>
                    <a:lstStyle/>
                    <a:p>
                      <a:pPr indent="0" marL="0">
                        <a:buNone/>
                      </a:pPr>
                      <a:r>
                        <a:rPr lang="en-US" sz="900" dirty="0">
                          <a:solidFill>
                            <a:srgbClr val="1A2040"/>
                          </a:solidFill>
                          <a:latin typeface="Calibri" pitchFamily="34" charset="0"/>
                          <a:ea typeface="Calibri" pitchFamily="34" charset="-122"/>
                          <a:cs typeface="Calibri" pitchFamily="34" charset="-120"/>
                        </a:rPr>
                        <a:t>Coût total de possession (TCO)</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dirty="0">
                          <a:solidFill>
                            <a:srgbClr val="5C6680"/>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C0392B"/>
                          </a:solidFill>
                          <a:latin typeface="Calibri" pitchFamily="34" charset="0"/>
                          <a:ea typeface="Calibri" pitchFamily="34" charset="-122"/>
                          <a:cs typeface="Calibri" pitchFamily="34" charset="-120"/>
                        </a:rPr>
                        <a:t>5/10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2E5FD9"/>
                          </a:solidFill>
                          <a:latin typeface="Calibri" pitchFamily="34" charset="0"/>
                          <a:ea typeface="Calibri" pitchFamily="34" charset="-122"/>
                          <a:cs typeface="Calibri" pitchFamily="34" charset="-120"/>
                        </a:rPr>
                        <a:t>7/10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900" b="1" dirty="0">
                          <a:solidFill>
                            <a:srgbClr val="1A7A4A"/>
                          </a:solidFill>
                          <a:latin typeface="Calibri" pitchFamily="34" charset="0"/>
                          <a:ea typeface="Calibri" pitchFamily="34" charset="-122"/>
                          <a:cs typeface="Calibri" pitchFamily="34" charset="-120"/>
                        </a:rPr>
                        <a:t>8/10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SCORE GLOBAL PONDÉRÉ</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5A623"/>
                          </a:solidFill>
                          <a:latin typeface="Calibri" pitchFamily="34" charset="0"/>
                          <a:ea typeface="Calibri" pitchFamily="34" charset="-122"/>
                          <a:cs typeface="Calibri" pitchFamily="34" charset="-120"/>
                        </a:rPr>
                        <a:t>8.6/10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066CC"/>
                    </a:solidFill>
                  </a:tcPr>
                </a:tc>
                <a:tc>
                  <a:txBody>
                    <a:bodyPr/>
                    <a:lstStyle/>
                    <a:p>
                      <a:pPr algn="ctr" indent="0" marL="0">
                        <a:buNone/>
                      </a:pPr>
                      <a:r>
                        <a:rPr lang="en-US" sz="900" b="1" dirty="0">
                          <a:solidFill>
                            <a:srgbClr val="F5A623"/>
                          </a:solidFill>
                          <a:latin typeface="Calibri" pitchFamily="34" charset="0"/>
                          <a:ea typeface="Calibri" pitchFamily="34" charset="-122"/>
                          <a:cs typeface="Calibri" pitchFamily="34" charset="-120"/>
                        </a:rPr>
                        <a:t>8.9/10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1F6FE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5.9/10</a:t>
                      </a:r>
                      <a:endParaRPr lang="en-US" sz="90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7B2FBE"/>
                    </a:solidFill>
                  </a:tcPr>
                </a:tc>
              </a:tr>
            </a:tbl>
          </a:graphicData>
        </a:graphic>
      </p:graphicFrame>
      <p:sp>
        <p:nvSpPr>
          <p:cNvPr id="11" name="Text 8"/>
          <p:cNvSpPr/>
          <p:nvPr/>
        </p:nvSpPr>
        <p:spPr>
          <a:xfrm>
            <a:off x="320040" y="4590288"/>
            <a:ext cx="8503920" cy="274320"/>
          </a:xfrm>
          <a:prstGeom prst="rect">
            <a:avLst/>
          </a:prstGeom>
          <a:noFill/>
          <a:ln/>
        </p:spPr>
        <p:txBody>
          <a:bodyPr wrap="square" lIns="0" tIns="0" rIns="0" bIns="0" rtlCol="0" anchor="ctr"/>
          <a:lstStyle/>
          <a:p>
            <a:pPr algn="ctr" indent="0" marL="0">
              <a:buNone/>
            </a:pPr>
            <a:r>
              <a:rPr lang="en-US" sz="1000" b="1" dirty="0">
                <a:solidFill>
                  <a:srgbClr val="1A2040"/>
                </a:solidFill>
                <a:latin typeface="Calibri" pitchFamily="34" charset="0"/>
                <a:ea typeface="Calibri" pitchFamily="34" charset="-122"/>
                <a:cs typeface="Calibri" pitchFamily="34" charset="-120"/>
              </a:rPr>
              <a:t>Classement : 1er Commvault (8.9/10)  ·  2e NetBackup (8.6/10)  ·  3e Portworx (5.9/10)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Conformité DORA – Mapping Exigences / Solutions</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Article par article – Capacité de chaque solution à répondre aux obligations réglementaires</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13</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914400"/>
        </p:xfrm>
        <a:graphic>
          <a:graphicData uri="http://schemas.openxmlformats.org/drawingml/2006/table">
            <a:tbl>
              <a:tblPr/>
              <a:tblGrid>
                <a:gridCol w="2103120"/>
                <a:gridCol w="1234440"/>
                <a:gridCol w="1234440"/>
                <a:gridCol w="1234440"/>
                <a:gridCol w="2697480"/>
              </a:tblGrid>
              <a:tr h="237744">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Exigence DORA</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NetBackup</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066CC"/>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Commvault</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1F6FEB"/>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Portworx</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7B2FBE"/>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Commentaire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0D1B4B"/>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9 – Sécurité des données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Complet</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Complet</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Partiel</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Chiffrement AES-256, contrôle d'accès RBAC, ségrégation réseau backup</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11 – Rétention 7-10 ans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LTO WORM natif</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LTO WORM natif</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C0392B"/>
                          </a:solidFill>
                          <a:latin typeface="Calibri" pitchFamily="34" charset="0"/>
                          <a:ea typeface="Calibri" pitchFamily="34" charset="-122"/>
                          <a:cs typeface="Calibri" pitchFamily="34" charset="-120"/>
                        </a:rPr>
                        <a:t>✘ Nécessite solution tierce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LTO WORM obligatoire pour 10 ans – NB et CV natif, Portworx nécessite une architecture complémentaire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12 – RPO/RTO définis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SLP automatisé</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LiveSync (RPO &lt; 15min)</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AsyncDR (RPO configurable)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Tous supportent la définition formelle des objectifs RPO/RTO avec monitoring</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13 – Tests restauration</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Instant Recovery Test</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Test Restore documenté</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Validation automatisée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Tous proposent des mécanismes de test de restauration, avec reporting pour audit</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17 – Incident reporting</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OpsCenter alerting</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Alertes + SIEM intégré</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PX-Central alerting</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Notification des incidents ICT en moins de 4h – intégrations SIEM disponibles</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25 – TLPT &amp; résilience</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DR orchestré</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DR + Failover testé</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AsyncDR inter-cluster</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Capacité à simuler une perte totale de cluster et valider la restauration complète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30 – Immuabilité backup</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WORM + Catalog Lock</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1A7A4A"/>
                          </a:solidFill>
                          <a:latin typeface="Calibri" pitchFamily="34" charset="0"/>
                          <a:ea typeface="Calibri" pitchFamily="34" charset="-122"/>
                          <a:cs typeface="Calibri" pitchFamily="34" charset="-120"/>
                        </a:rPr>
                        <a:t>✔ Compliance Lock natif</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D4720B"/>
                          </a:solidFill>
                          <a:latin typeface="Calibri" pitchFamily="34" charset="0"/>
                          <a:ea typeface="Calibri" pitchFamily="34" charset="-122"/>
                          <a:cs typeface="Calibri" pitchFamily="34" charset="-120"/>
                        </a:rPr>
                        <a:t>◑ Object Lock S3 (limité)</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Immuabilité des sauvegardes pour protection anti-ransomware et conformité légale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FFFFF"/>
                    </a:solidFill>
                  </a:tcPr>
                </a:tc>
              </a:tr>
              <a:tr h="237744">
                <a:tc>
                  <a:txBody>
                    <a:bodyPr/>
                    <a:lstStyle/>
                    <a:p>
                      <a:pPr indent="0" marL="0">
                        <a:buNone/>
                      </a:pPr>
                      <a:r>
                        <a:rPr lang="en-US" sz="850" b="1" dirty="0">
                          <a:solidFill>
                            <a:srgbClr val="1A2040"/>
                          </a:solidFill>
                          <a:latin typeface="Calibri" pitchFamily="34" charset="0"/>
                          <a:ea typeface="Calibri" pitchFamily="34" charset="-122"/>
                          <a:cs typeface="Calibri" pitchFamily="34" charset="-120"/>
                        </a:rPr>
                        <a:t>Art. 28 – Risque tiers</a:t>
                      </a:r>
                      <a:endParaRPr lang="en-US" sz="8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D4720B"/>
                          </a:solidFill>
                          <a:latin typeface="Calibri" pitchFamily="34" charset="0"/>
                          <a:ea typeface="Calibri" pitchFamily="34" charset="-122"/>
                          <a:cs typeface="Calibri" pitchFamily="34" charset="-120"/>
                        </a:rPr>
                        <a:t>◑ Due diligence requise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D4720B"/>
                          </a:solidFill>
                          <a:latin typeface="Calibri" pitchFamily="34" charset="0"/>
                          <a:ea typeface="Calibri" pitchFamily="34" charset="-122"/>
                          <a:cs typeface="Calibri" pitchFamily="34" charset="-120"/>
                        </a:rPr>
                        <a:t>◑ Due diligence requise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algn="ctr" indent="0" marL="0">
                        <a:buNone/>
                      </a:pPr>
                      <a:r>
                        <a:rPr lang="en-US" sz="750" b="1" dirty="0">
                          <a:solidFill>
                            <a:srgbClr val="D4720B"/>
                          </a:solidFill>
                          <a:latin typeface="Calibri" pitchFamily="34" charset="0"/>
                          <a:ea typeface="Calibri" pitchFamily="34" charset="-122"/>
                          <a:cs typeface="Calibri" pitchFamily="34" charset="-120"/>
                        </a:rPr>
                        <a:t>◑ Due diligence requise</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c>
                  <a:txBody>
                    <a:bodyPr/>
                    <a:lstStyle/>
                    <a:p>
                      <a:pPr indent="0" marL="0">
                        <a:buNone/>
                      </a:pPr>
                      <a:r>
                        <a:rPr lang="en-US" sz="750" dirty="0">
                          <a:solidFill>
                            <a:srgbClr val="5C6680"/>
                          </a:solidFill>
                          <a:latin typeface="Calibri" pitchFamily="34" charset="0"/>
                          <a:ea typeface="Calibri" pitchFamily="34" charset="-122"/>
                          <a:cs typeface="Calibri" pitchFamily="34" charset="-120"/>
                        </a:rPr>
                        <a:t>Documentation contractuelle TPSP à établir pour les 3 solutions (SLA, audit rights)</a:t>
                      </a:r>
                      <a:endParaRPr lang="en-US" sz="750" dirty="0">
                        <a:latin typeface="Calibri" charset="0"/>
                        <a:ea typeface="Calibri" charset="0"/>
                        <a:cs typeface="Calibri" charset="0"/>
                      </a:endParaRPr>
                    </a:p>
                  </a:txBody>
                  <a:tcPr marL="91440" marR="91440" marT="45720" marB="45720">
                    <a:lnL w="6350" cap="flat" cmpd="sng" algn="ctr">
                      <a:solidFill>
                        <a:srgbClr val="D0D8EE"/>
                      </a:solidFill>
                      <a:prstDash val="solid"/>
                      <a:round/>
                      <a:headEnd type="none" w="med" len="med"/>
                      <a:tailEnd type="none" w="med" len="med"/>
                    </a:lnL>
                    <a:lnR w="6350" cap="flat" cmpd="sng" algn="ctr">
                      <a:solidFill>
                        <a:srgbClr val="D0D8EE"/>
                      </a:solidFill>
                      <a:prstDash val="solid"/>
                      <a:round/>
                      <a:headEnd type="none" w="med" len="med"/>
                      <a:tailEnd type="none" w="med" len="med"/>
                    </a:lnR>
                    <a:lnT w="6350" cap="flat" cmpd="sng" algn="ctr">
                      <a:solidFill>
                        <a:srgbClr val="D0D8EE"/>
                      </a:solidFill>
                      <a:prstDash val="solid"/>
                      <a:round/>
                      <a:headEnd type="none" w="med" len="med"/>
                      <a:tailEnd type="none" w="med" len="med"/>
                    </a:lnT>
                    <a:lnB w="6350" cap="flat" cmpd="sng" algn="ctr">
                      <a:solidFill>
                        <a:srgbClr val="D0D8EE"/>
                      </a:solidFill>
                      <a:prstDash val="solid"/>
                      <a:round/>
                      <a:headEnd type="none" w="med" len="med"/>
                      <a:tailEnd type="none" w="med" len="med"/>
                    </a:lnB>
                    <a:solidFill>
                      <a:srgbClr val="F4F7FD"/>
                    </a:solidFill>
                  </a:tcPr>
                </a:tc>
              </a:tr>
            </a:tbl>
          </a:graphicData>
        </a:graphic>
      </p:graphicFrame>
      <p:sp>
        <p:nvSpPr>
          <p:cNvPr id="10" name="Text 7"/>
          <p:cNvSpPr/>
          <p:nvPr/>
        </p:nvSpPr>
        <p:spPr>
          <a:xfrm>
            <a:off x="320040" y="4617720"/>
            <a:ext cx="8503920" cy="256032"/>
          </a:xfrm>
          <a:prstGeom prst="rect">
            <a:avLst/>
          </a:prstGeom>
          <a:noFill/>
          <a:ln/>
        </p:spPr>
        <p:txBody>
          <a:bodyPr wrap="square" lIns="0" tIns="0" rIns="0" bIns="0" rtlCol="0" anchor="ctr"/>
          <a:lstStyle/>
          <a:p>
            <a:pPr indent="0" marL="0">
              <a:buNone/>
            </a:pPr>
            <a:r>
              <a:rPr lang="en-US" sz="800" i="1" dirty="0">
                <a:solidFill>
                  <a:srgbClr val="5C6680"/>
                </a:solidFill>
                <a:latin typeface="Calibri" pitchFamily="34" charset="0"/>
                <a:ea typeface="Calibri" pitchFamily="34" charset="-122"/>
                <a:cs typeface="Calibri" pitchFamily="34" charset="-120"/>
              </a:rPr>
              <a:t>◑ = Partiel / nécessite configuration ou solution complémentaire  ·  ✔ = Natif  ·  ✘ = Non supporté ou architecture complexe requise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Intégration LTO &amp; Dell EMC Data Domain</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Analyse détaillée de la compatibilité stockage – Facteur différenciant majeur</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14</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320040" y="960120"/>
            <a:ext cx="8503920" cy="320040"/>
          </a:xfrm>
          <a:prstGeom prst="rect">
            <a:avLst/>
          </a:prstGeom>
          <a:solidFill>
            <a:srgbClr val="1A3A8F"/>
          </a:solidFill>
          <a:ln w="12700">
            <a:solidFill>
              <a:srgbClr val="1A3A8F"/>
            </a:solidFill>
            <a:prstDash val="solid"/>
          </a:ln>
        </p:spPr>
      </p:sp>
      <p:sp>
        <p:nvSpPr>
          <p:cNvPr id="10" name="Text 8"/>
          <p:cNvSpPr/>
          <p:nvPr/>
        </p:nvSpPr>
        <p:spPr>
          <a:xfrm>
            <a:off x="411480" y="978408"/>
            <a:ext cx="83210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DELL EMC DATA DOMAIN – Rétention court/moyen terme (1 mois – 1 an)</a:t>
            </a:r>
            <a:endParaRPr lang="en-US" sz="1000" dirty="0"/>
          </a:p>
        </p:txBody>
      </p:sp>
      <p:sp>
        <p:nvSpPr>
          <p:cNvPr id="11" name="Shape 9"/>
          <p:cNvSpPr/>
          <p:nvPr/>
        </p:nvSpPr>
        <p:spPr>
          <a:xfrm>
            <a:off x="320040" y="1325880"/>
            <a:ext cx="2651760" cy="169164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1325880"/>
            <a:ext cx="2651760" cy="292608"/>
          </a:xfrm>
          <a:prstGeom prst="rect">
            <a:avLst/>
          </a:prstGeom>
          <a:solidFill>
            <a:srgbClr val="0066CC"/>
          </a:solidFill>
          <a:ln w="12700">
            <a:solidFill>
              <a:srgbClr val="0066CC"/>
            </a:solidFill>
            <a:prstDash val="solid"/>
          </a:ln>
        </p:spPr>
      </p:sp>
      <p:sp>
        <p:nvSpPr>
          <p:cNvPr id="13" name="Text 11"/>
          <p:cNvSpPr/>
          <p:nvPr/>
        </p:nvSpPr>
        <p:spPr>
          <a:xfrm>
            <a:off x="393192" y="1344168"/>
            <a:ext cx="2505456"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NetBackup</a:t>
            </a:r>
            <a:endParaRPr lang="en-US" sz="1000" dirty="0"/>
          </a:p>
        </p:txBody>
      </p:sp>
      <p:sp>
        <p:nvSpPr>
          <p:cNvPr id="14" name="Text 12"/>
          <p:cNvSpPr/>
          <p:nvPr/>
        </p:nvSpPr>
        <p:spPr>
          <a:xfrm>
            <a:off x="411480" y="1664208"/>
            <a:ext cx="2468880" cy="1298448"/>
          </a:xfrm>
          <a:prstGeom prst="rect">
            <a:avLst/>
          </a:prstGeom>
          <a:noFill/>
          <a:ln/>
        </p:spPr>
        <p:txBody>
          <a:bodyPr wrap="square" lIns="0" tIns="0" rIns="0" bIns="0" rtlCol="0" anchor="ctr"/>
          <a:lstStyle/>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DDBoost via OST (OpenStorage Technology) : protocole propriétaire optimisé</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Déduplication distribuée côté client (réduction trafic 50-80%)</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Vérification d'intégrité inline et optimized duplication</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Support DD Retention Lock : immuabilité sur Data Domain</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Configuration SLP (Storage Lifecycle Policy) pour expiration automatique</a:t>
            </a:r>
            <a:endParaRPr lang="en-US" sz="800" dirty="0"/>
          </a:p>
        </p:txBody>
      </p:sp>
      <p:sp>
        <p:nvSpPr>
          <p:cNvPr id="15" name="Shape 13"/>
          <p:cNvSpPr/>
          <p:nvPr/>
        </p:nvSpPr>
        <p:spPr>
          <a:xfrm>
            <a:off x="3154680" y="1325880"/>
            <a:ext cx="2651760" cy="169164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154680" y="1325880"/>
            <a:ext cx="2651760" cy="292608"/>
          </a:xfrm>
          <a:prstGeom prst="rect">
            <a:avLst/>
          </a:prstGeom>
          <a:solidFill>
            <a:srgbClr val="1F6FEB"/>
          </a:solidFill>
          <a:ln w="12700">
            <a:solidFill>
              <a:srgbClr val="1F6FEB"/>
            </a:solidFill>
            <a:prstDash val="solid"/>
          </a:ln>
        </p:spPr>
      </p:sp>
      <p:sp>
        <p:nvSpPr>
          <p:cNvPr id="17" name="Text 15"/>
          <p:cNvSpPr/>
          <p:nvPr/>
        </p:nvSpPr>
        <p:spPr>
          <a:xfrm>
            <a:off x="3227832" y="1344168"/>
            <a:ext cx="2505456"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Commvault</a:t>
            </a:r>
            <a:endParaRPr lang="en-US" sz="1000" dirty="0"/>
          </a:p>
        </p:txBody>
      </p:sp>
      <p:sp>
        <p:nvSpPr>
          <p:cNvPr id="18" name="Text 16"/>
          <p:cNvSpPr/>
          <p:nvPr/>
        </p:nvSpPr>
        <p:spPr>
          <a:xfrm>
            <a:off x="3246120" y="1664208"/>
            <a:ext cx="2468880" cy="1298448"/>
          </a:xfrm>
          <a:prstGeom prst="rect">
            <a:avLst/>
          </a:prstGeom>
          <a:noFill/>
          <a:ln/>
        </p:spPr>
        <p:txBody>
          <a:bodyPr wrap="square" lIns="0" tIns="0" rIns="0" bIns="0" rtlCol="0" anchor="ctr"/>
          <a:lstStyle/>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DDBoost natif intégré dans le MediaAgent Commvault</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Déduplication globale cross-clients : réduction maximale des données</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DD Boost for OpenStorage : vérification et optimisation réseau</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Auxiliaire Copy automatique vers LTO depuis DD (workflow unifié)</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Support DD Retention Lock Compliance et Governance</a:t>
            </a:r>
            <a:endParaRPr lang="en-US" sz="800" dirty="0"/>
          </a:p>
        </p:txBody>
      </p:sp>
      <p:sp>
        <p:nvSpPr>
          <p:cNvPr id="19" name="Shape 17"/>
          <p:cNvSpPr/>
          <p:nvPr/>
        </p:nvSpPr>
        <p:spPr>
          <a:xfrm>
            <a:off x="5989320" y="1325880"/>
            <a:ext cx="2651760" cy="169164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5989320" y="1325880"/>
            <a:ext cx="2651760" cy="292608"/>
          </a:xfrm>
          <a:prstGeom prst="rect">
            <a:avLst/>
          </a:prstGeom>
          <a:solidFill>
            <a:srgbClr val="7B2FBE"/>
          </a:solidFill>
          <a:ln w="12700">
            <a:solidFill>
              <a:srgbClr val="7B2FBE"/>
            </a:solidFill>
            <a:prstDash val="solid"/>
          </a:ln>
        </p:spPr>
      </p:sp>
      <p:sp>
        <p:nvSpPr>
          <p:cNvPr id="21" name="Text 19"/>
          <p:cNvSpPr/>
          <p:nvPr/>
        </p:nvSpPr>
        <p:spPr>
          <a:xfrm>
            <a:off x="6062472" y="1344168"/>
            <a:ext cx="2505456"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Portworx</a:t>
            </a:r>
            <a:endParaRPr lang="en-US" sz="1000" dirty="0"/>
          </a:p>
        </p:txBody>
      </p:sp>
      <p:sp>
        <p:nvSpPr>
          <p:cNvPr id="22" name="Text 20"/>
          <p:cNvSpPr/>
          <p:nvPr/>
        </p:nvSpPr>
        <p:spPr>
          <a:xfrm>
            <a:off x="6080760" y="1664208"/>
            <a:ext cx="2468880" cy="1298448"/>
          </a:xfrm>
          <a:prstGeom prst="rect">
            <a:avLst/>
          </a:prstGeom>
          <a:noFill/>
          <a:ln/>
        </p:spPr>
        <p:txBody>
          <a:bodyPr wrap="square" lIns="0" tIns="0" rIns="0" bIns="0" rtlCol="0" anchor="ctr"/>
          <a:lstStyle/>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 PAS de support DDBoost natif</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Intégration via NFS/CIFS uniquement (protocole générique)</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Perte des optimisations DDBoost (dédup côté client, transfert accéléré)</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Consommation réseau et stockage supérieure aux solutions précédentes</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Fonctionnel mais sous-optimal pour les grandes volumétries</a:t>
            </a:r>
            <a:endParaRPr lang="en-US" sz="800" dirty="0"/>
          </a:p>
        </p:txBody>
      </p:sp>
      <p:sp>
        <p:nvSpPr>
          <p:cNvPr id="23" name="Shape 21"/>
          <p:cNvSpPr/>
          <p:nvPr/>
        </p:nvSpPr>
        <p:spPr>
          <a:xfrm>
            <a:off x="320040" y="3127248"/>
            <a:ext cx="8503920" cy="320040"/>
          </a:xfrm>
          <a:prstGeom prst="rect">
            <a:avLst/>
          </a:prstGeom>
          <a:solidFill>
            <a:srgbClr val="D4720B"/>
          </a:solidFill>
          <a:ln w="12700">
            <a:solidFill>
              <a:srgbClr val="D4720B"/>
            </a:solidFill>
            <a:prstDash val="solid"/>
          </a:ln>
        </p:spPr>
      </p:sp>
      <p:sp>
        <p:nvSpPr>
          <p:cNvPr id="24" name="Text 22"/>
          <p:cNvSpPr/>
          <p:nvPr/>
        </p:nvSpPr>
        <p:spPr>
          <a:xfrm>
            <a:off x="411480" y="3145536"/>
            <a:ext cx="83210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BIBLIOTHÈQUE LTO – Rétention long terme (3 ans – 10 ans) – Conformité DORA Art. 11</a:t>
            </a:r>
            <a:endParaRPr lang="en-US" sz="1000" dirty="0"/>
          </a:p>
        </p:txBody>
      </p:sp>
      <p:sp>
        <p:nvSpPr>
          <p:cNvPr id="25" name="Shape 23"/>
          <p:cNvSpPr/>
          <p:nvPr/>
        </p:nvSpPr>
        <p:spPr>
          <a:xfrm>
            <a:off x="320040" y="3493008"/>
            <a:ext cx="2651760" cy="13716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320040" y="3493008"/>
            <a:ext cx="2651760" cy="292608"/>
          </a:xfrm>
          <a:prstGeom prst="rect">
            <a:avLst/>
          </a:prstGeom>
          <a:solidFill>
            <a:srgbClr val="0066CC"/>
          </a:solidFill>
          <a:ln w="12700">
            <a:solidFill>
              <a:srgbClr val="0066CC"/>
            </a:solidFill>
            <a:prstDash val="solid"/>
          </a:ln>
        </p:spPr>
      </p:sp>
      <p:sp>
        <p:nvSpPr>
          <p:cNvPr id="27" name="Text 25"/>
          <p:cNvSpPr/>
          <p:nvPr/>
        </p:nvSpPr>
        <p:spPr>
          <a:xfrm>
            <a:off x="393192" y="3511296"/>
            <a:ext cx="2505456"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NetBackup</a:t>
            </a:r>
            <a:endParaRPr lang="en-US" sz="1000" dirty="0"/>
          </a:p>
        </p:txBody>
      </p:sp>
      <p:sp>
        <p:nvSpPr>
          <p:cNvPr id="28" name="Text 26"/>
          <p:cNvSpPr/>
          <p:nvPr/>
        </p:nvSpPr>
        <p:spPr>
          <a:xfrm>
            <a:off x="411480" y="3822192"/>
            <a:ext cx="2468880" cy="987552"/>
          </a:xfrm>
          <a:prstGeom prst="rect">
            <a:avLst/>
          </a:prstGeom>
          <a:noFill/>
          <a:ln/>
        </p:spPr>
        <p:txBody>
          <a:bodyPr wrap="square" lIns="0" tIns="0" rIns="0" bIns="0" rtlCol="0" anchor="ctr"/>
          <a:lstStyle/>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Support natif bibliothèques LTO physiques et VTL</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SLP : tiering automatique Data Domain → LTO selon âge</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WORM sur bande LTO certifié (NetBackup Vault option)</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Chiffrement matériel LTO-9 AES-256 géré par NetBackup</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Barcode management et slot tracking automatique</a:t>
            </a:r>
            <a:endParaRPr lang="en-US" sz="800" dirty="0"/>
          </a:p>
        </p:txBody>
      </p:sp>
      <p:sp>
        <p:nvSpPr>
          <p:cNvPr id="29" name="Shape 27"/>
          <p:cNvSpPr/>
          <p:nvPr/>
        </p:nvSpPr>
        <p:spPr>
          <a:xfrm>
            <a:off x="3154680" y="3493008"/>
            <a:ext cx="2651760" cy="13716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3154680" y="3493008"/>
            <a:ext cx="2651760" cy="292608"/>
          </a:xfrm>
          <a:prstGeom prst="rect">
            <a:avLst/>
          </a:prstGeom>
          <a:solidFill>
            <a:srgbClr val="1F6FEB"/>
          </a:solidFill>
          <a:ln w="12700">
            <a:solidFill>
              <a:srgbClr val="1F6FEB"/>
            </a:solidFill>
            <a:prstDash val="solid"/>
          </a:ln>
        </p:spPr>
      </p:sp>
      <p:sp>
        <p:nvSpPr>
          <p:cNvPr id="31" name="Text 29"/>
          <p:cNvSpPr/>
          <p:nvPr/>
        </p:nvSpPr>
        <p:spPr>
          <a:xfrm>
            <a:off x="3227832" y="3511296"/>
            <a:ext cx="2505456"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Commvault</a:t>
            </a:r>
            <a:endParaRPr lang="en-US" sz="1000" dirty="0"/>
          </a:p>
        </p:txBody>
      </p:sp>
      <p:sp>
        <p:nvSpPr>
          <p:cNvPr id="32" name="Text 30"/>
          <p:cNvSpPr/>
          <p:nvPr/>
        </p:nvSpPr>
        <p:spPr>
          <a:xfrm>
            <a:off x="3246120" y="3822192"/>
            <a:ext cx="2468880" cy="987552"/>
          </a:xfrm>
          <a:prstGeom prst="rect">
            <a:avLst/>
          </a:prstGeom>
          <a:noFill/>
          <a:ln/>
        </p:spPr>
        <p:txBody>
          <a:bodyPr wrap="square" lIns="0" tIns="0" rIns="0" bIns="0" rtlCol="0" anchor="ctr"/>
          <a:lstStyle/>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Support natif bibliothèques LTO via MediaAgent</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Auxiliaire Copy automatique DD → LTO (règles de rétention)</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WORM natif sur cartouches LTO-WORM (Compliance &amp; Governance)</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Chiffrement LTO matériel ou logiciel (clé par cartouche)</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Gestion inventaire et export bandes hors-site (Vault)</a:t>
            </a:r>
            <a:endParaRPr lang="en-US" sz="800" dirty="0"/>
          </a:p>
        </p:txBody>
      </p:sp>
      <p:sp>
        <p:nvSpPr>
          <p:cNvPr id="33" name="Shape 31"/>
          <p:cNvSpPr/>
          <p:nvPr/>
        </p:nvSpPr>
        <p:spPr>
          <a:xfrm>
            <a:off x="5989320" y="3493008"/>
            <a:ext cx="2651760" cy="137160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5989320" y="3493008"/>
            <a:ext cx="2651760" cy="292608"/>
          </a:xfrm>
          <a:prstGeom prst="rect">
            <a:avLst/>
          </a:prstGeom>
          <a:solidFill>
            <a:srgbClr val="7B2FBE"/>
          </a:solidFill>
          <a:ln w="12700">
            <a:solidFill>
              <a:srgbClr val="7B2FBE"/>
            </a:solidFill>
            <a:prstDash val="solid"/>
          </a:ln>
        </p:spPr>
      </p:sp>
      <p:sp>
        <p:nvSpPr>
          <p:cNvPr id="35" name="Text 33"/>
          <p:cNvSpPr/>
          <p:nvPr/>
        </p:nvSpPr>
        <p:spPr>
          <a:xfrm>
            <a:off x="6062472" y="3511296"/>
            <a:ext cx="2505456" cy="24688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Portworx</a:t>
            </a:r>
            <a:endParaRPr lang="en-US" sz="1000" dirty="0"/>
          </a:p>
        </p:txBody>
      </p:sp>
      <p:sp>
        <p:nvSpPr>
          <p:cNvPr id="36" name="Text 34"/>
          <p:cNvSpPr/>
          <p:nvPr/>
        </p:nvSpPr>
        <p:spPr>
          <a:xfrm>
            <a:off x="6080760" y="3822192"/>
            <a:ext cx="2468880" cy="987552"/>
          </a:xfrm>
          <a:prstGeom prst="rect">
            <a:avLst/>
          </a:prstGeom>
          <a:noFill/>
          <a:ln/>
        </p:spPr>
        <p:txBody>
          <a:bodyPr wrap="square" lIns="0" tIns="0" rIns="0" bIns="0" rtlCol="0" anchor="ctr"/>
          <a:lstStyle/>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 NON SUPPORTÉ NATIVEMENT</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Aucun pilote bibliothèque LTO dans PX-Backup</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Contournement : VTL (Virtual Tape Library) en intermédiaire</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Alternative : solution tierce de tiering (Veeam, NetBackup) en parallèle</a:t>
            </a:r>
            <a:endParaRPr lang="en-US" sz="800" dirty="0"/>
          </a:p>
          <a:p>
            <a:pPr marL="342900" indent="-342900">
              <a:buSzPct val="100000"/>
              <a:buChar char="•"/>
            </a:pPr>
            <a:r>
              <a:rPr lang="en-US" sz="800" dirty="0">
                <a:solidFill>
                  <a:srgbClr val="1A2040"/>
                </a:solidFill>
                <a:latin typeface="Calibri" pitchFamily="34" charset="0"/>
                <a:ea typeface="Calibri" pitchFamily="34" charset="-122"/>
                <a:cs typeface="Calibri" pitchFamily="34" charset="-120"/>
              </a:rPr>
              <a:t>Architecture complexe et coût supplémentaire significatif</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D"/>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B"/>
          </a:solidFill>
          <a:ln w="12700">
            <a:solidFill>
              <a:srgbClr val="0D1B4B"/>
            </a:solidFill>
            <a:prstDash val="solid"/>
          </a:ln>
        </p:spPr>
      </p:sp>
      <p:sp>
        <p:nvSpPr>
          <p:cNvPr id="3" name="Shape 1"/>
          <p:cNvSpPr/>
          <p:nvPr/>
        </p:nvSpPr>
        <p:spPr>
          <a:xfrm>
            <a:off x="0" y="822960"/>
            <a:ext cx="9144000" cy="54864"/>
          </a:xfrm>
          <a:prstGeom prst="rect">
            <a:avLst/>
          </a:prstGeom>
          <a:solidFill>
            <a:srgbClr val="F5A623"/>
          </a:solidFill>
          <a:ln w="12700">
            <a:solidFill>
              <a:srgbClr val="F5A623"/>
            </a:solidFill>
            <a:prstDash val="solid"/>
          </a:ln>
        </p:spPr>
      </p:sp>
      <p:sp>
        <p:nvSpPr>
          <p:cNvPr id="4" name="Text 2"/>
          <p:cNvSpPr/>
          <p:nvPr/>
        </p:nvSpPr>
        <p:spPr>
          <a:xfrm>
            <a:off x="365760" y="91440"/>
            <a:ext cx="685800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Recommandation &amp; Plan d'action</a:t>
            </a:r>
            <a:endParaRPr lang="en-US" sz="2000" dirty="0"/>
          </a:p>
        </p:txBody>
      </p:sp>
      <p:sp>
        <p:nvSpPr>
          <p:cNvPr id="5" name="Text 3"/>
          <p:cNvSpPr/>
          <p:nvPr/>
        </p:nvSpPr>
        <p:spPr>
          <a:xfrm>
            <a:off x="365760" y="91440"/>
            <a:ext cx="6858000" cy="640080"/>
          </a:xfrm>
          <a:prstGeom prst="rect">
            <a:avLst/>
          </a:prstGeom>
          <a:noFill/>
          <a:ln/>
        </p:spPr>
        <p:txBody>
          <a:bodyPr wrap="square" lIns="0" tIns="0" rIns="0" bIns="0" rtlCol="0" anchor="b"/>
          <a:lstStyle/>
          <a:p>
            <a:pPr indent="0" marL="0">
              <a:buNone/>
            </a:pPr>
            <a:r>
              <a:rPr lang="en-US" sz="1100" dirty="0">
                <a:solidFill>
                  <a:srgbClr val="D6E4FF"/>
                </a:solidFill>
                <a:latin typeface="Calibri" pitchFamily="34" charset="0"/>
                <a:ea typeface="Calibri" pitchFamily="34" charset="-122"/>
                <a:cs typeface="Calibri" pitchFamily="34" charset="-120"/>
              </a:rPr>
              <a:t>Synthèse de l'analyse comparative – Choix recommandé selon les contraintes DORA</a:t>
            </a:r>
            <a:endParaRPr lang="en-US" sz="1100" dirty="0"/>
          </a:p>
        </p:txBody>
      </p:sp>
      <p:sp>
        <p:nvSpPr>
          <p:cNvPr id="6" name="Shape 4"/>
          <p:cNvSpPr/>
          <p:nvPr/>
        </p:nvSpPr>
        <p:spPr>
          <a:xfrm>
            <a:off x="0" y="4937760"/>
            <a:ext cx="9144000" cy="205740"/>
          </a:xfrm>
          <a:prstGeom prst="rect">
            <a:avLst/>
          </a:prstGeom>
          <a:solidFill>
            <a:srgbClr val="0D1B4B"/>
          </a:solidFill>
          <a:ln w="12700">
            <a:solidFill>
              <a:srgbClr val="0D1B4B"/>
            </a:solidFill>
            <a:prstDash val="solid"/>
          </a:ln>
        </p:spPr>
      </p:sp>
      <p:sp>
        <p:nvSpPr>
          <p:cNvPr id="7" name="Text 5"/>
          <p:cNvSpPr/>
          <p:nvPr/>
        </p:nvSpPr>
        <p:spPr>
          <a:xfrm>
            <a:off x="8503920" y="4937760"/>
            <a:ext cx="457200" cy="205740"/>
          </a:xfrm>
          <a:prstGeom prst="rect">
            <a:avLst/>
          </a:prstGeom>
          <a:noFill/>
          <a:ln/>
        </p:spPr>
        <p:txBody>
          <a:bodyPr wrap="square" rtlCol="0" anchor="ctr"/>
          <a:lstStyle/>
          <a:p>
            <a:pPr algn="ctr" indent="0" marL="0">
              <a:buNone/>
            </a:pPr>
            <a:r>
              <a:rPr lang="en-US" sz="900" dirty="0">
                <a:solidFill>
                  <a:srgbClr val="D6E4FF"/>
                </a:solidFill>
                <a:latin typeface="Calibri" pitchFamily="34" charset="0"/>
                <a:ea typeface="Calibri" pitchFamily="34" charset="-122"/>
                <a:cs typeface="Calibri" pitchFamily="34" charset="-120"/>
              </a:rPr>
              <a:t>15</a:t>
            </a:r>
            <a:endParaRPr lang="en-US" sz="900" dirty="0"/>
          </a:p>
        </p:txBody>
      </p:sp>
      <p:sp>
        <p:nvSpPr>
          <p:cNvPr id="8" name="Text 6"/>
          <p:cNvSpPr/>
          <p:nvPr/>
        </p:nvSpPr>
        <p:spPr>
          <a:xfrm>
            <a:off x="182880" y="4937760"/>
            <a:ext cx="7772400" cy="205740"/>
          </a:xfrm>
          <a:prstGeom prst="rect">
            <a:avLst/>
          </a:prstGeom>
          <a:noFill/>
          <a:ln/>
        </p:spPr>
        <p:txBody>
          <a:bodyPr wrap="square" rtlCol="0" anchor="ctr"/>
          <a:lstStyle/>
          <a:p>
            <a:pPr indent="0" marL="0">
              <a:buNone/>
            </a:pPr>
            <a:r>
              <a:rPr lang="en-US" sz="900" dirty="0">
                <a:solidFill>
                  <a:srgbClr val="D6E4FF"/>
                </a:solidFill>
                <a:latin typeface="Calibri" pitchFamily="34" charset="0"/>
                <a:ea typeface="Calibri" pitchFamily="34" charset="-122"/>
                <a:cs typeface="Calibri" pitchFamily="34" charset="-120"/>
              </a:rPr>
              <a:t>CONFIDENTIEL – Étude Comparative Backup K8s/OpenShift</a:t>
            </a:r>
            <a:endParaRPr lang="en-US" sz="900" dirty="0"/>
          </a:p>
        </p:txBody>
      </p:sp>
      <p:sp>
        <p:nvSpPr>
          <p:cNvPr id="9" name="Shape 7"/>
          <p:cNvSpPr/>
          <p:nvPr/>
        </p:nvSpPr>
        <p:spPr>
          <a:xfrm>
            <a:off x="320040" y="914400"/>
            <a:ext cx="8503920" cy="1005840"/>
          </a:xfrm>
          <a:prstGeom prst="rect">
            <a:avLst/>
          </a:prstGeom>
          <a:solidFill>
            <a:srgbClr val="EBF3FF"/>
          </a:solidFill>
          <a:ln w="25400">
            <a:solidFill>
              <a:srgbClr val="2E5FD9"/>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914400"/>
            <a:ext cx="73152" cy="1005840"/>
          </a:xfrm>
          <a:prstGeom prst="rect">
            <a:avLst/>
          </a:prstGeom>
          <a:solidFill>
            <a:srgbClr val="F5A623"/>
          </a:solidFill>
          <a:ln w="12700">
            <a:solidFill>
              <a:srgbClr val="F5A623"/>
            </a:solidFill>
            <a:prstDash val="solid"/>
          </a:ln>
        </p:spPr>
      </p:sp>
      <p:sp>
        <p:nvSpPr>
          <p:cNvPr id="11" name="Text 9"/>
          <p:cNvSpPr/>
          <p:nvPr/>
        </p:nvSpPr>
        <p:spPr>
          <a:xfrm>
            <a:off x="502920" y="950976"/>
            <a:ext cx="8229600" cy="329184"/>
          </a:xfrm>
          <a:prstGeom prst="rect">
            <a:avLst/>
          </a:prstGeom>
          <a:noFill/>
          <a:ln/>
        </p:spPr>
        <p:txBody>
          <a:bodyPr wrap="square" lIns="0" tIns="0" rIns="0" bIns="0" rtlCol="0" anchor="ctr"/>
          <a:lstStyle/>
          <a:p>
            <a:pPr indent="0" marL="0">
              <a:buNone/>
            </a:pPr>
            <a:r>
              <a:rPr lang="en-US" sz="1300" b="1" dirty="0">
                <a:solidFill>
                  <a:srgbClr val="1A2040"/>
                </a:solidFill>
                <a:latin typeface="Calibri" pitchFamily="34" charset="0"/>
                <a:ea typeface="Calibri" pitchFamily="34" charset="-122"/>
                <a:cs typeface="Calibri" pitchFamily="34" charset="-120"/>
              </a:rPr>
              <a:t>🏆 Recommandation principale : Commvault Complete for Kubernetes</a:t>
            </a:r>
            <a:endParaRPr lang="en-US" sz="1300" dirty="0"/>
          </a:p>
        </p:txBody>
      </p:sp>
      <p:sp>
        <p:nvSpPr>
          <p:cNvPr id="12" name="Text 10"/>
          <p:cNvSpPr/>
          <p:nvPr/>
        </p:nvSpPr>
        <p:spPr>
          <a:xfrm>
            <a:off x="502920" y="1280160"/>
            <a:ext cx="8229600" cy="548640"/>
          </a:xfrm>
          <a:prstGeom prst="rect">
            <a:avLst/>
          </a:prstGeom>
          <a:noFill/>
          <a:ln/>
        </p:spPr>
        <p:txBody>
          <a:bodyPr wrap="square" lIns="0" tIns="0" rIns="0" bIns="0" rtlCol="0" anchor="ctr"/>
          <a:lstStyle/>
          <a:p>
            <a:pPr indent="0" marL="0">
              <a:buNone/>
            </a:pPr>
            <a:r>
              <a:rPr lang="en-US" sz="950" dirty="0">
                <a:solidFill>
                  <a:srgbClr val="1A2040"/>
                </a:solidFill>
                <a:latin typeface="Calibri" pitchFamily="34" charset="0"/>
                <a:ea typeface="Calibri" pitchFamily="34" charset="-122"/>
                <a:cs typeface="Calibri" pitchFamily="34" charset="-120"/>
              </a:rPr>
              <a:t>Score global 8.6/10 · Meilleur équilibre fonctionnalités / conformité DORA / TCO · Intégration LTO et DDBoost nativement · Compliance Lock anti-ransomware · Plateforme unifiée VMs + K8s + SaaS</a:t>
            </a:r>
            <a:endParaRPr lang="en-US" sz="950" dirty="0"/>
          </a:p>
        </p:txBody>
      </p:sp>
      <p:sp>
        <p:nvSpPr>
          <p:cNvPr id="13" name="Shape 11"/>
          <p:cNvSpPr/>
          <p:nvPr/>
        </p:nvSpPr>
        <p:spPr>
          <a:xfrm>
            <a:off x="320040" y="2011680"/>
            <a:ext cx="406908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0040" y="2011680"/>
            <a:ext cx="54864" cy="804672"/>
          </a:xfrm>
          <a:prstGeom prst="rect">
            <a:avLst/>
          </a:prstGeom>
          <a:solidFill>
            <a:srgbClr val="0066CC"/>
          </a:solidFill>
          <a:ln w="12700">
            <a:solidFill>
              <a:srgbClr val="0066CC"/>
            </a:solidFill>
            <a:prstDash val="solid"/>
          </a:ln>
        </p:spPr>
      </p:sp>
      <p:sp>
        <p:nvSpPr>
          <p:cNvPr id="15" name="Text 13"/>
          <p:cNvSpPr/>
          <p:nvPr/>
        </p:nvSpPr>
        <p:spPr>
          <a:xfrm>
            <a:off x="457200" y="2048256"/>
            <a:ext cx="3749040" cy="256032"/>
          </a:xfrm>
          <a:prstGeom prst="rect">
            <a:avLst/>
          </a:prstGeom>
          <a:noFill/>
          <a:ln/>
        </p:spPr>
        <p:txBody>
          <a:bodyPr wrap="square" lIns="0" tIns="0" rIns="0" bIns="0" rtlCol="0" anchor="ctr"/>
          <a:lstStyle/>
          <a:p>
            <a:pPr indent="0" marL="0">
              <a:buNone/>
            </a:pPr>
            <a:r>
              <a:rPr lang="en-US" sz="1000" b="1" dirty="0">
                <a:solidFill>
                  <a:srgbClr val="1A2040"/>
                </a:solidFill>
                <a:latin typeface="Calibri" pitchFamily="34" charset="0"/>
                <a:ea typeface="Calibri" pitchFamily="34" charset="-122"/>
                <a:cs typeface="Calibri" pitchFamily="34" charset="-120"/>
              </a:rPr>
              <a:t>Alternative : Veritas NetBackup (8.2/10)</a:t>
            </a:r>
            <a:endParaRPr lang="en-US" sz="1000" dirty="0"/>
          </a:p>
        </p:txBody>
      </p:sp>
      <p:sp>
        <p:nvSpPr>
          <p:cNvPr id="16" name="Text 14"/>
          <p:cNvSpPr/>
          <p:nvPr/>
        </p:nvSpPr>
        <p:spPr>
          <a:xfrm>
            <a:off x="457200" y="2322576"/>
            <a:ext cx="3749040" cy="457200"/>
          </a:xfrm>
          <a:prstGeom prst="rect">
            <a:avLst/>
          </a:prstGeom>
          <a:noFill/>
          <a:ln/>
        </p:spPr>
        <p:txBody>
          <a:bodyPr wrap="square" lIns="0" tIns="0" rIns="0" bIns="0" rtlCol="0" anchor="ctr"/>
          <a:lstStyle/>
          <a:p>
            <a:pPr indent="0" marL="0">
              <a:buNone/>
            </a:pPr>
            <a:r>
              <a:rPr lang="en-US" sz="850" dirty="0">
                <a:solidFill>
                  <a:srgbClr val="1A2040"/>
                </a:solidFill>
                <a:latin typeface="Calibri" pitchFamily="34" charset="0"/>
                <a:ea typeface="Calibri" pitchFamily="34" charset="-122"/>
                <a:cs typeface="Calibri" pitchFamily="34" charset="-120"/>
              </a:rPr>
              <a:t>Recommandé si l'équipe dispose d'expertise NetBackup existante ou si l'environnement est très hétérogène (nombreux systèmes legacy). Intégration LTO la plus mature du marché.</a:t>
            </a:r>
            <a:endParaRPr lang="en-US" sz="850" dirty="0"/>
          </a:p>
        </p:txBody>
      </p:sp>
      <p:sp>
        <p:nvSpPr>
          <p:cNvPr id="17" name="Shape 15"/>
          <p:cNvSpPr/>
          <p:nvPr/>
        </p:nvSpPr>
        <p:spPr>
          <a:xfrm>
            <a:off x="4480560" y="2011680"/>
            <a:ext cx="4343400" cy="804672"/>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480560" y="2011680"/>
            <a:ext cx="54864" cy="804672"/>
          </a:xfrm>
          <a:prstGeom prst="rect">
            <a:avLst/>
          </a:prstGeom>
          <a:solidFill>
            <a:srgbClr val="D4720B"/>
          </a:solidFill>
          <a:ln w="12700">
            <a:solidFill>
              <a:srgbClr val="D4720B"/>
            </a:solidFill>
            <a:prstDash val="solid"/>
          </a:ln>
        </p:spPr>
      </p:sp>
      <p:sp>
        <p:nvSpPr>
          <p:cNvPr id="19" name="Text 17"/>
          <p:cNvSpPr/>
          <p:nvPr/>
        </p:nvSpPr>
        <p:spPr>
          <a:xfrm>
            <a:off x="4617720" y="2048256"/>
            <a:ext cx="4114800" cy="256032"/>
          </a:xfrm>
          <a:prstGeom prst="rect">
            <a:avLst/>
          </a:prstGeom>
          <a:noFill/>
          <a:ln/>
        </p:spPr>
        <p:txBody>
          <a:bodyPr wrap="square" lIns="0" tIns="0" rIns="0" bIns="0" rtlCol="0" anchor="ctr"/>
          <a:lstStyle/>
          <a:p>
            <a:pPr indent="0" marL="0">
              <a:buNone/>
            </a:pPr>
            <a:r>
              <a:rPr lang="en-US" sz="1000" b="1" dirty="0">
                <a:solidFill>
                  <a:srgbClr val="1A2040"/>
                </a:solidFill>
                <a:latin typeface="Calibri" pitchFamily="34" charset="0"/>
                <a:ea typeface="Calibri" pitchFamily="34" charset="-122"/>
                <a:cs typeface="Calibri" pitchFamily="34" charset="-120"/>
              </a:rPr>
              <a:t>⚠ Portworx : Usage spécifique uniquement (5.4/10)</a:t>
            </a:r>
            <a:endParaRPr lang="en-US" sz="1000" dirty="0"/>
          </a:p>
        </p:txBody>
      </p:sp>
      <p:sp>
        <p:nvSpPr>
          <p:cNvPr id="20" name="Text 18"/>
          <p:cNvSpPr/>
          <p:nvPr/>
        </p:nvSpPr>
        <p:spPr>
          <a:xfrm>
            <a:off x="4617720" y="2322576"/>
            <a:ext cx="4114800" cy="457200"/>
          </a:xfrm>
          <a:prstGeom prst="rect">
            <a:avLst/>
          </a:prstGeom>
          <a:noFill/>
          <a:ln/>
        </p:spPr>
        <p:txBody>
          <a:bodyPr wrap="square" lIns="0" tIns="0" rIns="0" bIns="0" rtlCol="0" anchor="ctr"/>
          <a:lstStyle/>
          <a:p>
            <a:pPr indent="0" marL="0">
              <a:buNone/>
            </a:pPr>
            <a:r>
              <a:rPr lang="en-US" sz="850" dirty="0">
                <a:solidFill>
                  <a:srgbClr val="1A2040"/>
                </a:solidFill>
                <a:latin typeface="Calibri" pitchFamily="34" charset="0"/>
                <a:ea typeface="Calibri" pitchFamily="34" charset="-122"/>
                <a:cs typeface="Calibri" pitchFamily="34" charset="-120"/>
              </a:rPr>
              <a:t>À retenir uniquement pour des workloads K8s pure cloud sans contrainte LTO. Non recommandé dans ce contexte DORA (rétention 10 ans LTO) sans architecture hybride complémentaire.</a:t>
            </a:r>
            <a:endParaRPr lang="en-US" sz="850" dirty="0"/>
          </a:p>
        </p:txBody>
      </p:sp>
      <p:sp>
        <p:nvSpPr>
          <p:cNvPr id="21" name="Text 19"/>
          <p:cNvSpPr/>
          <p:nvPr/>
        </p:nvSpPr>
        <p:spPr>
          <a:xfrm>
            <a:off x="320040" y="2926080"/>
            <a:ext cx="8503920" cy="274320"/>
          </a:xfrm>
          <a:prstGeom prst="rect">
            <a:avLst/>
          </a:prstGeom>
          <a:noFill/>
          <a:ln/>
        </p:spPr>
        <p:txBody>
          <a:bodyPr wrap="square" lIns="0" tIns="0" rIns="0" bIns="0" rtlCol="0" anchor="ctr"/>
          <a:lstStyle/>
          <a:p>
            <a:pPr indent="0" marL="0">
              <a:buNone/>
            </a:pPr>
            <a:r>
              <a:rPr lang="en-US" sz="1200" b="1" dirty="0">
                <a:solidFill>
                  <a:srgbClr val="1A2040"/>
                </a:solidFill>
                <a:latin typeface="Calibri" pitchFamily="34" charset="0"/>
                <a:ea typeface="Calibri" pitchFamily="34" charset="-122"/>
                <a:cs typeface="Calibri" pitchFamily="34" charset="-120"/>
              </a:rPr>
              <a:t>Plan d'action recommandé</a:t>
            </a:r>
            <a:endParaRPr lang="en-US" sz="1200" dirty="0"/>
          </a:p>
        </p:txBody>
      </p:sp>
      <p:sp>
        <p:nvSpPr>
          <p:cNvPr id="22" name="Shape 20"/>
          <p:cNvSpPr/>
          <p:nvPr/>
        </p:nvSpPr>
        <p:spPr>
          <a:xfrm>
            <a:off x="320040" y="3246120"/>
            <a:ext cx="2743200" cy="164592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20040" y="3246120"/>
            <a:ext cx="2743200" cy="320040"/>
          </a:xfrm>
          <a:prstGeom prst="rect">
            <a:avLst/>
          </a:prstGeom>
          <a:solidFill>
            <a:srgbClr val="0D1B4B"/>
          </a:solidFill>
          <a:ln w="12700">
            <a:solidFill>
              <a:srgbClr val="0D1B4B"/>
            </a:solidFill>
            <a:prstDash val="solid"/>
          </a:ln>
        </p:spPr>
      </p:sp>
      <p:sp>
        <p:nvSpPr>
          <p:cNvPr id="24" name="Text 22"/>
          <p:cNvSpPr/>
          <p:nvPr/>
        </p:nvSpPr>
        <p:spPr>
          <a:xfrm>
            <a:off x="393192" y="3264408"/>
            <a:ext cx="26060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1 – J0 à J30</a:t>
            </a:r>
            <a:endParaRPr lang="en-US" sz="900" dirty="0"/>
          </a:p>
        </p:txBody>
      </p:sp>
      <p:sp>
        <p:nvSpPr>
          <p:cNvPr id="25" name="Text 23"/>
          <p:cNvSpPr/>
          <p:nvPr/>
        </p:nvSpPr>
        <p:spPr>
          <a:xfrm>
            <a:off x="411480" y="3611880"/>
            <a:ext cx="2560320" cy="1234440"/>
          </a:xfrm>
          <a:prstGeom prst="rect">
            <a:avLst/>
          </a:prstGeom>
          <a:noFill/>
          <a:ln/>
        </p:spPr>
        <p:txBody>
          <a:bodyPr wrap="square" lIns="0" tIns="0" rIns="0" bIns="0" rtlCol="0" anchor="ctr"/>
          <a:lstStyle/>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Cadrer les exigences RPO/RTO par namespace/application avec les équipes métier</a:t>
            </a:r>
            <a:endParaRPr lang="en-US" sz="820" dirty="0"/>
          </a:p>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Inventorier les PVCs et volumes à protéger (volumétrie, fréquence de changement)</a:t>
            </a:r>
            <a:endParaRPr lang="en-US" sz="820" dirty="0"/>
          </a:p>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Réaliser un PoC Commvault (ou NetBackup) sur un cluster de qualification OpenShift</a:t>
            </a:r>
            <a:endParaRPr lang="en-US" sz="820" dirty="0"/>
          </a:p>
        </p:txBody>
      </p:sp>
      <p:sp>
        <p:nvSpPr>
          <p:cNvPr id="26" name="Shape 24"/>
          <p:cNvSpPr/>
          <p:nvPr/>
        </p:nvSpPr>
        <p:spPr>
          <a:xfrm>
            <a:off x="3200400" y="3246120"/>
            <a:ext cx="2743200" cy="164592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3200400" y="3246120"/>
            <a:ext cx="2743200" cy="320040"/>
          </a:xfrm>
          <a:prstGeom prst="rect">
            <a:avLst/>
          </a:prstGeom>
          <a:solidFill>
            <a:srgbClr val="1A3A8F"/>
          </a:solidFill>
          <a:ln w="12700">
            <a:solidFill>
              <a:srgbClr val="1A3A8F"/>
            </a:solidFill>
            <a:prstDash val="solid"/>
          </a:ln>
        </p:spPr>
      </p:sp>
      <p:sp>
        <p:nvSpPr>
          <p:cNvPr id="28" name="Text 26"/>
          <p:cNvSpPr/>
          <p:nvPr/>
        </p:nvSpPr>
        <p:spPr>
          <a:xfrm>
            <a:off x="3273552" y="3264408"/>
            <a:ext cx="26060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2 – J30 à J90</a:t>
            </a:r>
            <a:endParaRPr lang="en-US" sz="900" dirty="0"/>
          </a:p>
        </p:txBody>
      </p:sp>
      <p:sp>
        <p:nvSpPr>
          <p:cNvPr id="29" name="Text 27"/>
          <p:cNvSpPr/>
          <p:nvPr/>
        </p:nvSpPr>
        <p:spPr>
          <a:xfrm>
            <a:off x="3291840" y="3611880"/>
            <a:ext cx="2560320" cy="1234440"/>
          </a:xfrm>
          <a:prstGeom prst="rect">
            <a:avLst/>
          </a:prstGeom>
          <a:noFill/>
          <a:ln/>
        </p:spPr>
        <p:txBody>
          <a:bodyPr wrap="square" lIns="0" tIns="0" rIns="0" bIns="0" rtlCol="0" anchor="ctr"/>
          <a:lstStyle/>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Déployer l'opérateur Kubernetes en production (namespace par namespace)</a:t>
            </a:r>
            <a:endParaRPr lang="en-US" sz="820" dirty="0"/>
          </a:p>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Configurer les cibles Data Domain (DDBoost) et les SLA par tier de données</a:t>
            </a:r>
            <a:endParaRPr lang="en-US" sz="820" dirty="0"/>
          </a:p>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Implémenter les règles de tiering automatique Data Domain → LTO selon rétention DORA</a:t>
            </a:r>
            <a:endParaRPr lang="en-US" sz="820" dirty="0"/>
          </a:p>
        </p:txBody>
      </p:sp>
      <p:sp>
        <p:nvSpPr>
          <p:cNvPr id="30" name="Shape 28"/>
          <p:cNvSpPr/>
          <p:nvPr/>
        </p:nvSpPr>
        <p:spPr>
          <a:xfrm>
            <a:off x="6080760" y="3246120"/>
            <a:ext cx="2743200" cy="1645920"/>
          </a:xfrm>
          <a:prstGeom prst="rect">
            <a:avLst/>
          </a:prstGeom>
          <a:solidFill>
            <a:srgbClr val="FFFFFF"/>
          </a:solidFill>
          <a:ln w="12700">
            <a:solidFill>
              <a:srgbClr val="E8EDF8"/>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6080760" y="3246120"/>
            <a:ext cx="2743200" cy="320040"/>
          </a:xfrm>
          <a:prstGeom prst="rect">
            <a:avLst/>
          </a:prstGeom>
          <a:solidFill>
            <a:srgbClr val="2E5FD9"/>
          </a:solidFill>
          <a:ln w="12700">
            <a:solidFill>
              <a:srgbClr val="2E5FD9"/>
            </a:solidFill>
            <a:prstDash val="solid"/>
          </a:ln>
        </p:spPr>
      </p:sp>
      <p:sp>
        <p:nvSpPr>
          <p:cNvPr id="32" name="Text 30"/>
          <p:cNvSpPr/>
          <p:nvPr/>
        </p:nvSpPr>
        <p:spPr>
          <a:xfrm>
            <a:off x="6153912" y="3264408"/>
            <a:ext cx="26060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3 – J90 à J180</a:t>
            </a:r>
            <a:endParaRPr lang="en-US" sz="900" dirty="0"/>
          </a:p>
        </p:txBody>
      </p:sp>
      <p:sp>
        <p:nvSpPr>
          <p:cNvPr id="33" name="Text 31"/>
          <p:cNvSpPr/>
          <p:nvPr/>
        </p:nvSpPr>
        <p:spPr>
          <a:xfrm>
            <a:off x="6172200" y="3611880"/>
            <a:ext cx="2560320" cy="1234440"/>
          </a:xfrm>
          <a:prstGeom prst="rect">
            <a:avLst/>
          </a:prstGeom>
          <a:noFill/>
          <a:ln/>
        </p:spPr>
        <p:txBody>
          <a:bodyPr wrap="square" lIns="0" tIns="0" rIns="0" bIns="0" rtlCol="0" anchor="ctr"/>
          <a:lstStyle/>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Tester et documenter les procédures de restauration (Art. 13 DORA)</a:t>
            </a:r>
            <a:endParaRPr lang="en-US" sz="820" dirty="0"/>
          </a:p>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Former les équipes Ops, rédiger les runbooks de restauration d'urgence</a:t>
            </a:r>
            <a:endParaRPr lang="en-US" sz="820" dirty="0"/>
          </a:p>
          <a:p>
            <a:pPr marL="342900" indent="-342900">
              <a:buSzPct val="100000"/>
              <a:buChar char="•"/>
            </a:pPr>
            <a:r>
              <a:rPr lang="en-US" sz="820" dirty="0">
                <a:solidFill>
                  <a:srgbClr val="1A2040"/>
                </a:solidFill>
                <a:latin typeface="Calibri" pitchFamily="34" charset="0"/>
                <a:ea typeface="Calibri" pitchFamily="34" charset="-122"/>
                <a:cs typeface="Calibri" pitchFamily="34" charset="-120"/>
              </a:rPr>
              <a:t>Produire les premiers rapports de conformité DORA et planifier les audits périodiques</a:t>
            </a:r>
            <a:endParaRPr lang="en-US" sz="8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4B"/>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1A3A8F">
              <a:alpha val="50000"/>
            </a:srgbClr>
          </a:solidFill>
          <a:ln w="12700">
            <a:solidFill>
              <a:srgbClr val="1A3A8F">
                <a:alpha val="50000"/>
              </a:srgbClr>
            </a:solidFill>
            <a:prstDash val="solid"/>
          </a:ln>
        </p:spPr>
      </p:sp>
      <p:sp>
        <p:nvSpPr>
          <p:cNvPr id="3" name="Shape 1"/>
          <p:cNvSpPr/>
          <p:nvPr/>
        </p:nvSpPr>
        <p:spPr>
          <a:xfrm>
            <a:off x="2926080" y="2377440"/>
            <a:ext cx="6217920" cy="54864"/>
          </a:xfrm>
          <a:prstGeom prst="rect">
            <a:avLst/>
          </a:prstGeom>
          <a:solidFill>
            <a:srgbClr val="F5A623"/>
          </a:solidFill>
          <a:ln w="12700">
            <a:solidFill>
              <a:srgbClr val="F5A623"/>
            </a:solidFill>
            <a:prstDash val="solid"/>
          </a:ln>
        </p:spPr>
      </p:sp>
      <p:sp>
        <p:nvSpPr>
          <p:cNvPr id="4" name="Text 2"/>
          <p:cNvSpPr/>
          <p:nvPr/>
        </p:nvSpPr>
        <p:spPr>
          <a:xfrm>
            <a:off x="3108960" y="502920"/>
            <a:ext cx="5852160" cy="365760"/>
          </a:xfrm>
          <a:prstGeom prst="rect">
            <a:avLst/>
          </a:prstGeom>
          <a:noFill/>
          <a:ln/>
        </p:spPr>
        <p:txBody>
          <a:bodyPr wrap="square" lIns="0" tIns="0" rIns="0" bIns="0" rtlCol="0" anchor="ctr"/>
          <a:lstStyle/>
          <a:p>
            <a:pPr indent="0" marL="0">
              <a:buNone/>
            </a:pPr>
            <a:r>
              <a:rPr lang="en-US" sz="1300" b="1" spc="400" kern="0" dirty="0">
                <a:solidFill>
                  <a:srgbClr val="F5A623"/>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3108960" y="868680"/>
            <a:ext cx="5852160" cy="320040"/>
          </a:xfrm>
          <a:prstGeom prst="rect">
            <a:avLst/>
          </a:prstGeom>
          <a:noFill/>
          <a:ln/>
        </p:spPr>
        <p:txBody>
          <a:bodyPr wrap="square" lIns="0" tIns="0" rIns="0" bIns="0" rtlCol="0" anchor="ctr"/>
          <a:lstStyle/>
          <a:p>
            <a:pPr indent="0" marL="0">
              <a:buNone/>
            </a:pPr>
            <a:r>
              <a:rPr lang="en-US" sz="1400" dirty="0">
                <a:solidFill>
                  <a:srgbClr val="D6E4FF"/>
                </a:solidFill>
                <a:latin typeface="Calibri" pitchFamily="34" charset="0"/>
                <a:ea typeface="Calibri" pitchFamily="34" charset="-122"/>
                <a:cs typeface="Calibri" pitchFamily="34" charset="-120"/>
              </a:rPr>
              <a:t>Synthèse de l'étude comparative</a:t>
            </a:r>
            <a:endParaRPr lang="en-US" sz="1400" dirty="0"/>
          </a:p>
        </p:txBody>
      </p:sp>
      <p:sp>
        <p:nvSpPr>
          <p:cNvPr id="6" name="Shape 4"/>
          <p:cNvSpPr/>
          <p:nvPr/>
        </p:nvSpPr>
        <p:spPr>
          <a:xfrm>
            <a:off x="3108960" y="1280160"/>
            <a:ext cx="274320" cy="274320"/>
          </a:xfrm>
          <a:prstGeom prst="rect">
            <a:avLst/>
          </a:prstGeom>
          <a:solidFill>
            <a:srgbClr val="F5A623"/>
          </a:solidFill>
          <a:ln w="12700">
            <a:solidFill>
              <a:srgbClr val="F5A623"/>
            </a:solidFill>
            <a:prstDash val="solid"/>
          </a:ln>
        </p:spPr>
      </p:sp>
      <p:sp>
        <p:nvSpPr>
          <p:cNvPr id="7" name="Text 5"/>
          <p:cNvSpPr/>
          <p:nvPr/>
        </p:nvSpPr>
        <p:spPr>
          <a:xfrm>
            <a:off x="3474720" y="1261872"/>
            <a:ext cx="5394960"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Commvault s'impose comme la solution la mieux adaptée : intégration DDBoost et LTO native, Compliance Lock, rapports DORA, et plateforme unifiée.</a:t>
            </a:r>
            <a:endParaRPr lang="en-US" sz="950" dirty="0"/>
          </a:p>
        </p:txBody>
      </p:sp>
      <p:sp>
        <p:nvSpPr>
          <p:cNvPr id="8" name="Shape 6"/>
          <p:cNvSpPr/>
          <p:nvPr/>
        </p:nvSpPr>
        <p:spPr>
          <a:xfrm>
            <a:off x="3108960" y="1956816"/>
            <a:ext cx="274320" cy="274320"/>
          </a:xfrm>
          <a:prstGeom prst="rect">
            <a:avLst/>
          </a:prstGeom>
          <a:solidFill>
            <a:srgbClr val="F5A623"/>
          </a:solidFill>
          <a:ln w="12700">
            <a:solidFill>
              <a:srgbClr val="F5A623"/>
            </a:solidFill>
            <a:prstDash val="solid"/>
          </a:ln>
        </p:spPr>
      </p:sp>
      <p:sp>
        <p:nvSpPr>
          <p:cNvPr id="9" name="Text 7"/>
          <p:cNvSpPr/>
          <p:nvPr/>
        </p:nvSpPr>
        <p:spPr>
          <a:xfrm>
            <a:off x="3474720" y="1938528"/>
            <a:ext cx="5394960"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NetBackup reste une alternative solide pour les environnements disposant d'une expertise existante et d'architectures très hétérogènes.</a:t>
            </a:r>
            <a:endParaRPr lang="en-US" sz="950" dirty="0"/>
          </a:p>
        </p:txBody>
      </p:sp>
      <p:sp>
        <p:nvSpPr>
          <p:cNvPr id="10" name="Shape 8"/>
          <p:cNvSpPr/>
          <p:nvPr/>
        </p:nvSpPr>
        <p:spPr>
          <a:xfrm>
            <a:off x="3108960" y="2633472"/>
            <a:ext cx="274320" cy="274320"/>
          </a:xfrm>
          <a:prstGeom prst="rect">
            <a:avLst/>
          </a:prstGeom>
          <a:solidFill>
            <a:srgbClr val="F5A623"/>
          </a:solidFill>
          <a:ln w="12700">
            <a:solidFill>
              <a:srgbClr val="F5A623"/>
            </a:solidFill>
            <a:prstDash val="solid"/>
          </a:ln>
        </p:spPr>
      </p:sp>
      <p:sp>
        <p:nvSpPr>
          <p:cNvPr id="11" name="Text 9"/>
          <p:cNvSpPr/>
          <p:nvPr/>
        </p:nvSpPr>
        <p:spPr>
          <a:xfrm>
            <a:off x="3474720" y="2615184"/>
            <a:ext cx="5394960"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Portworx est disqualifié dans ce contexte précis en raison de l'absence de support LTO natif, condition sine qua non de la rétention 10 ans DORA.</a:t>
            </a:r>
            <a:endParaRPr lang="en-US" sz="950" dirty="0"/>
          </a:p>
        </p:txBody>
      </p:sp>
      <p:sp>
        <p:nvSpPr>
          <p:cNvPr id="12" name="Shape 10"/>
          <p:cNvSpPr/>
          <p:nvPr/>
        </p:nvSpPr>
        <p:spPr>
          <a:xfrm>
            <a:off x="3108960" y="3310128"/>
            <a:ext cx="274320" cy="274320"/>
          </a:xfrm>
          <a:prstGeom prst="rect">
            <a:avLst/>
          </a:prstGeom>
          <a:solidFill>
            <a:srgbClr val="F5A623"/>
          </a:solidFill>
          <a:ln w="12700">
            <a:solidFill>
              <a:srgbClr val="F5A623"/>
            </a:solidFill>
            <a:prstDash val="solid"/>
          </a:ln>
        </p:spPr>
      </p:sp>
      <p:sp>
        <p:nvSpPr>
          <p:cNvPr id="13" name="Text 11"/>
          <p:cNvSpPr/>
          <p:nvPr/>
        </p:nvSpPr>
        <p:spPr>
          <a:xfrm>
            <a:off x="3474720" y="3291840"/>
            <a:ext cx="5394960"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L'intégration Data Domain via DDBoost est un pré-requis fonctionnel : NetBackup et Commvault la supportent nativement ; Portworx ne la supporte pas.</a:t>
            </a:r>
            <a:endParaRPr lang="en-US" sz="950" dirty="0"/>
          </a:p>
        </p:txBody>
      </p:sp>
      <p:sp>
        <p:nvSpPr>
          <p:cNvPr id="14" name="Shape 12"/>
          <p:cNvSpPr/>
          <p:nvPr/>
        </p:nvSpPr>
        <p:spPr>
          <a:xfrm>
            <a:off x="3108960" y="3986784"/>
            <a:ext cx="274320" cy="274320"/>
          </a:xfrm>
          <a:prstGeom prst="rect">
            <a:avLst/>
          </a:prstGeom>
          <a:solidFill>
            <a:srgbClr val="F5A623"/>
          </a:solidFill>
          <a:ln w="12700">
            <a:solidFill>
              <a:srgbClr val="F5A623"/>
            </a:solidFill>
            <a:prstDash val="solid"/>
          </a:ln>
        </p:spPr>
      </p:sp>
      <p:sp>
        <p:nvSpPr>
          <p:cNvPr id="15" name="Text 13"/>
          <p:cNvSpPr/>
          <p:nvPr/>
        </p:nvSpPr>
        <p:spPr>
          <a:xfrm>
            <a:off x="3474720" y="3968496"/>
            <a:ext cx="5394960" cy="34747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 conformité DORA impose des tests de restauration documentés, une immuabilité WORM, et un chiffrement AES-256 — couverts par les deux solutions retenues.</a:t>
            </a:r>
            <a:endParaRPr lang="en-US" sz="950" dirty="0"/>
          </a:p>
        </p:txBody>
      </p:sp>
      <p:sp>
        <p:nvSpPr>
          <p:cNvPr id="16" name="Text 14"/>
          <p:cNvSpPr/>
          <p:nvPr/>
        </p:nvSpPr>
        <p:spPr>
          <a:xfrm>
            <a:off x="3108960" y="4663440"/>
            <a:ext cx="5760720" cy="274320"/>
          </a:xfrm>
          <a:prstGeom prst="rect">
            <a:avLst/>
          </a:prstGeom>
          <a:noFill/>
          <a:ln/>
        </p:spPr>
        <p:txBody>
          <a:bodyPr wrap="square" lIns="0" tIns="0" rIns="0" bIns="0" rtlCol="0" anchor="ctr"/>
          <a:lstStyle/>
          <a:p>
            <a:pPr indent="0" marL="0">
              <a:buNone/>
            </a:pPr>
            <a:r>
              <a:rPr lang="en-US" sz="1000" b="1" i="1" dirty="0">
                <a:solidFill>
                  <a:srgbClr val="F5A623"/>
                </a:solidFill>
                <a:latin typeface="Calibri" pitchFamily="34" charset="0"/>
                <a:ea typeface="Calibri" pitchFamily="34" charset="-122"/>
                <a:cs typeface="Calibri" pitchFamily="34" charset="-120"/>
              </a:rPr>
              <a:t>Prochaine étape : PoC Commvault sur cluster de qualification OpenShift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Comparative Solutions Sauvegarde Kubernetes/OpenShift</dc:title>
  <dc:subject>PptxGenJS Presentation</dc:subject>
  <dc:creator>Étude Comparative - Backup Kubernetes</dc:creator>
  <cp:lastModifiedBy>Étude Comparative - Backup Kubernetes</cp:lastModifiedBy>
  <cp:revision>1</cp:revision>
  <dcterms:created xsi:type="dcterms:W3CDTF">2026-03-31T04:37:54Z</dcterms:created>
  <dcterms:modified xsi:type="dcterms:W3CDTF">2026-03-31T04:37:54Z</dcterms:modified>
</cp:coreProperties>
</file>